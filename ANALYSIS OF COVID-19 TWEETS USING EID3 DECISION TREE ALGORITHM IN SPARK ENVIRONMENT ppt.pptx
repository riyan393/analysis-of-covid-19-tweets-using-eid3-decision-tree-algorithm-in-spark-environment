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4" r:id="rId1"/>
  </p:sldMasterIdLst>
  <p:sldIdLst>
    <p:sldId id="261" r:id="rId2"/>
    <p:sldId id="262" r:id="rId3"/>
    <p:sldId id="263" r:id="rId4"/>
    <p:sldId id="264" r:id="rId5"/>
    <p:sldId id="258" r:id="rId6"/>
    <p:sldId id="257" r:id="rId7"/>
    <p:sldId id="269" r:id="rId8"/>
    <p:sldId id="270" r:id="rId9"/>
    <p:sldId id="267" r:id="rId10"/>
    <p:sldId id="268" r:id="rId11"/>
    <p:sldId id="281" r:id="rId12"/>
    <p:sldId id="283" r:id="rId13"/>
    <p:sldId id="284" r:id="rId14"/>
    <p:sldId id="285" r:id="rId15"/>
    <p:sldId id="289" r:id="rId16"/>
    <p:sldId id="286" r:id="rId17"/>
    <p:sldId id="271" r:id="rId18"/>
    <p:sldId id="272" r:id="rId19"/>
    <p:sldId id="277" r:id="rId20"/>
    <p:sldId id="279" r:id="rId21"/>
    <p:sldId id="278" r:id="rId22"/>
    <p:sldId id="273" r:id="rId23"/>
    <p:sldId id="287" r:id="rId24"/>
    <p:sldId id="280" r:id="rId25"/>
    <p:sldId id="266" r:id="rId26"/>
    <p:sldId id="28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92FEE1A-2857-4489-A7EE-32F51BC8FC30}">
          <p14:sldIdLst>
            <p14:sldId id="261"/>
            <p14:sldId id="262"/>
            <p14:sldId id="263"/>
            <p14:sldId id="264"/>
            <p14:sldId id="258"/>
            <p14:sldId id="257"/>
            <p14:sldId id="269"/>
            <p14:sldId id="270"/>
            <p14:sldId id="267"/>
          </p14:sldIdLst>
        </p14:section>
        <p14:section name="Untitled Section" id="{47894722-DD37-41E2-BDD7-0782876D9BFB}">
          <p14:sldIdLst>
            <p14:sldId id="268"/>
            <p14:sldId id="281"/>
            <p14:sldId id="283"/>
            <p14:sldId id="284"/>
            <p14:sldId id="285"/>
            <p14:sldId id="289"/>
            <p14:sldId id="286"/>
            <p14:sldId id="271"/>
            <p14:sldId id="272"/>
            <p14:sldId id="277"/>
            <p14:sldId id="279"/>
            <p14:sldId id="278"/>
            <p14:sldId id="273"/>
            <p14:sldId id="287"/>
            <p14:sldId id="280"/>
            <p14:sldId id="266"/>
            <p14:sldId id="2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10"/>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53" autoAdjust="0"/>
    <p:restoredTop sz="93333" autoAdjust="0"/>
  </p:normalViewPr>
  <p:slideViewPr>
    <p:cSldViewPr snapToGrid="0">
      <p:cViewPr varScale="1">
        <p:scale>
          <a:sx n="59" d="100"/>
          <a:sy n="59" d="100"/>
        </p:scale>
        <p:origin x="968"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Raj" userId="04e747b604d1eb61" providerId="LiveId" clId="{2A18E86A-DD13-4F41-9A27-A4410A1FC91D}"/>
    <pc:docChg chg="undo custSel addSld modSld sldOrd addSection">
      <pc:chgData name="Deepak Raj" userId="04e747b604d1eb61" providerId="LiveId" clId="{2A18E86A-DD13-4F41-9A27-A4410A1FC91D}" dt="2022-01-05T10:07:02.968" v="238" actId="1076"/>
      <pc:docMkLst>
        <pc:docMk/>
      </pc:docMkLst>
      <pc:sldChg chg="modSp mod ord">
        <pc:chgData name="Deepak Raj" userId="04e747b604d1eb61" providerId="LiveId" clId="{2A18E86A-DD13-4F41-9A27-A4410A1FC91D}" dt="2022-01-05T05:41:49.632" v="221"/>
        <pc:sldMkLst>
          <pc:docMk/>
          <pc:sldMk cId="4155463706" sldId="257"/>
        </pc:sldMkLst>
        <pc:spChg chg="mod">
          <ac:chgData name="Deepak Raj" userId="04e747b604d1eb61" providerId="LiveId" clId="{2A18E86A-DD13-4F41-9A27-A4410A1FC91D}" dt="2022-01-05T05:14:29.811" v="112"/>
          <ac:spMkLst>
            <pc:docMk/>
            <pc:sldMk cId="4155463706" sldId="257"/>
            <ac:spMk id="2" creationId="{794A5F65-F97D-4E8C-94E1-6948AF3AC9F1}"/>
          </ac:spMkLst>
        </pc:spChg>
        <pc:graphicFrameChg chg="mod modGraphic">
          <ac:chgData name="Deepak Raj" userId="04e747b604d1eb61" providerId="LiveId" clId="{2A18E86A-DD13-4F41-9A27-A4410A1FC91D}" dt="2022-01-05T05:14:14.430" v="111" actId="1035"/>
          <ac:graphicFrameMkLst>
            <pc:docMk/>
            <pc:sldMk cId="4155463706" sldId="257"/>
            <ac:graphicFrameMk id="4" creationId="{00000000-0000-0000-0000-000000000000}"/>
          </ac:graphicFrameMkLst>
        </pc:graphicFrameChg>
      </pc:sldChg>
      <pc:sldChg chg="modSp mod ord">
        <pc:chgData name="Deepak Raj" userId="04e747b604d1eb61" providerId="LiveId" clId="{2A18E86A-DD13-4F41-9A27-A4410A1FC91D}" dt="2022-01-05T05:41:49.632" v="221"/>
        <pc:sldMkLst>
          <pc:docMk/>
          <pc:sldMk cId="3522450665" sldId="258"/>
        </pc:sldMkLst>
        <pc:spChg chg="mod">
          <ac:chgData name="Deepak Raj" userId="04e747b604d1eb61" providerId="LiveId" clId="{2A18E86A-DD13-4F41-9A27-A4410A1FC91D}" dt="2022-01-05T05:22:09.801" v="139" actId="20577"/>
          <ac:spMkLst>
            <pc:docMk/>
            <pc:sldMk cId="3522450665" sldId="258"/>
            <ac:spMk id="2" creationId="{423B5FB4-ECD7-4F3D-8609-92C9D159DEB8}"/>
          </ac:spMkLst>
        </pc:spChg>
        <pc:spChg chg="mod">
          <ac:chgData name="Deepak Raj" userId="04e747b604d1eb61" providerId="LiveId" clId="{2A18E86A-DD13-4F41-9A27-A4410A1FC91D}" dt="2022-01-05T05:23:06.448" v="142" actId="12"/>
          <ac:spMkLst>
            <pc:docMk/>
            <pc:sldMk cId="3522450665" sldId="258"/>
            <ac:spMk id="3" creationId="{A6470658-CBE0-41DD-9301-4F15750D671E}"/>
          </ac:spMkLst>
        </pc:spChg>
      </pc:sldChg>
      <pc:sldChg chg="addSp delSp modSp mod ord">
        <pc:chgData name="Deepak Raj" userId="04e747b604d1eb61" providerId="LiveId" clId="{2A18E86A-DD13-4F41-9A27-A4410A1FC91D}" dt="2022-01-05T09:22:57.019" v="235" actId="478"/>
        <pc:sldMkLst>
          <pc:docMk/>
          <pc:sldMk cId="3061258867" sldId="261"/>
        </pc:sldMkLst>
        <pc:spChg chg="mod">
          <ac:chgData name="Deepak Raj" userId="04e747b604d1eb61" providerId="LiveId" clId="{2A18E86A-DD13-4F41-9A27-A4410A1FC91D}" dt="2022-01-05T05:30:17.608" v="196" actId="122"/>
          <ac:spMkLst>
            <pc:docMk/>
            <pc:sldMk cId="3061258867" sldId="261"/>
            <ac:spMk id="2" creationId="{3E275142-8183-480B-AC0B-4C047C6083AD}"/>
          </ac:spMkLst>
        </pc:spChg>
        <pc:spChg chg="mod">
          <ac:chgData name="Deepak Raj" userId="04e747b604d1eb61" providerId="LiveId" clId="{2A18E86A-DD13-4F41-9A27-A4410A1FC91D}" dt="2022-01-05T05:31:03.080" v="202" actId="27636"/>
          <ac:spMkLst>
            <pc:docMk/>
            <pc:sldMk cId="3061258867" sldId="261"/>
            <ac:spMk id="3" creationId="{C5BAD36F-0C2A-485A-8E54-667639EB5E48}"/>
          </ac:spMkLst>
        </pc:spChg>
        <pc:spChg chg="mod">
          <ac:chgData name="Deepak Raj" userId="04e747b604d1eb61" providerId="LiveId" clId="{2A18E86A-DD13-4F41-9A27-A4410A1FC91D}" dt="2022-01-05T05:31:40.296" v="210" actId="14100"/>
          <ac:spMkLst>
            <pc:docMk/>
            <pc:sldMk cId="3061258867" sldId="261"/>
            <ac:spMk id="6" creationId="{86895703-EBED-4616-829D-B29A284FD820}"/>
          </ac:spMkLst>
        </pc:spChg>
        <pc:spChg chg="mod">
          <ac:chgData name="Deepak Raj" userId="04e747b604d1eb61" providerId="LiveId" clId="{2A18E86A-DD13-4F41-9A27-A4410A1FC91D}" dt="2022-01-05T05:30:30.976" v="197" actId="2711"/>
          <ac:spMkLst>
            <pc:docMk/>
            <pc:sldMk cId="3061258867" sldId="261"/>
            <ac:spMk id="8" creationId="{2CFB75C4-0418-4644-8519-67380ED1A455}"/>
          </ac:spMkLst>
        </pc:spChg>
        <pc:graphicFrameChg chg="add del modGraphic">
          <ac:chgData name="Deepak Raj" userId="04e747b604d1eb61" providerId="LiveId" clId="{2A18E86A-DD13-4F41-9A27-A4410A1FC91D}" dt="2022-01-05T09:22:57.019" v="235" actId="478"/>
          <ac:graphicFrameMkLst>
            <pc:docMk/>
            <pc:sldMk cId="3061258867" sldId="261"/>
            <ac:graphicFrameMk id="5" creationId="{1129BE25-D3A8-45F3-B815-B87C1D59799B}"/>
          </ac:graphicFrameMkLst>
        </pc:graphicFrameChg>
        <pc:graphicFrameChg chg="add del modGraphic">
          <ac:chgData name="Deepak Raj" userId="04e747b604d1eb61" providerId="LiveId" clId="{2A18E86A-DD13-4F41-9A27-A4410A1FC91D}" dt="2022-01-05T09:22:55.296" v="234" actId="478"/>
          <ac:graphicFrameMkLst>
            <pc:docMk/>
            <pc:sldMk cId="3061258867" sldId="261"/>
            <ac:graphicFrameMk id="10" creationId="{2671CFCA-112E-4CEC-9D60-E269C5B2EA03}"/>
          </ac:graphicFrameMkLst>
        </pc:graphicFrameChg>
        <pc:graphicFrameChg chg="add del modGraphic">
          <ac:chgData name="Deepak Raj" userId="04e747b604d1eb61" providerId="LiveId" clId="{2A18E86A-DD13-4F41-9A27-A4410A1FC91D}" dt="2022-01-05T09:22:53.583" v="233" actId="478"/>
          <ac:graphicFrameMkLst>
            <pc:docMk/>
            <pc:sldMk cId="3061258867" sldId="261"/>
            <ac:graphicFrameMk id="12" creationId="{BB3B09BE-62E5-4956-B18E-08820D35C127}"/>
          </ac:graphicFrameMkLst>
        </pc:graphicFrameChg>
        <pc:graphicFrameChg chg="add del modGraphic">
          <ac:chgData name="Deepak Raj" userId="04e747b604d1eb61" providerId="LiveId" clId="{2A18E86A-DD13-4F41-9A27-A4410A1FC91D}" dt="2022-01-05T09:22:52.655" v="232" actId="478"/>
          <ac:graphicFrameMkLst>
            <pc:docMk/>
            <pc:sldMk cId="3061258867" sldId="261"/>
            <ac:graphicFrameMk id="14" creationId="{9B2258BB-D2E1-4B01-B2E4-447497D02FF5}"/>
          </ac:graphicFrameMkLst>
        </pc:graphicFrameChg>
        <pc:graphicFrameChg chg="add del modGraphic">
          <ac:chgData name="Deepak Raj" userId="04e747b604d1eb61" providerId="LiveId" clId="{2A18E86A-DD13-4F41-9A27-A4410A1FC91D}" dt="2022-01-05T09:22:50.259" v="231" actId="478"/>
          <ac:graphicFrameMkLst>
            <pc:docMk/>
            <pc:sldMk cId="3061258867" sldId="261"/>
            <ac:graphicFrameMk id="16" creationId="{2E6AFD83-DC02-4934-AD66-DA7B58D34508}"/>
          </ac:graphicFrameMkLst>
        </pc:graphicFrameChg>
        <pc:graphicFrameChg chg="add del modGraphic">
          <ac:chgData name="Deepak Raj" userId="04e747b604d1eb61" providerId="LiveId" clId="{2A18E86A-DD13-4F41-9A27-A4410A1FC91D}" dt="2022-01-05T09:22:49.480" v="230" actId="478"/>
          <ac:graphicFrameMkLst>
            <pc:docMk/>
            <pc:sldMk cId="3061258867" sldId="261"/>
            <ac:graphicFrameMk id="18" creationId="{702468F3-10D3-4C47-97B6-6DBB76DAC24C}"/>
          </ac:graphicFrameMkLst>
        </pc:graphicFrameChg>
        <pc:graphicFrameChg chg="add del modGraphic">
          <ac:chgData name="Deepak Raj" userId="04e747b604d1eb61" providerId="LiveId" clId="{2A18E86A-DD13-4F41-9A27-A4410A1FC91D}" dt="2022-01-05T09:22:48.300" v="229" actId="478"/>
          <ac:graphicFrameMkLst>
            <pc:docMk/>
            <pc:sldMk cId="3061258867" sldId="261"/>
            <ac:graphicFrameMk id="20" creationId="{FD25BE24-39A5-419B-9B77-C8B22DF57ED0}"/>
          </ac:graphicFrameMkLst>
        </pc:graphicFrameChg>
        <pc:graphicFrameChg chg="add del mod modGraphic">
          <ac:chgData name="Deepak Raj" userId="04e747b604d1eb61" providerId="LiveId" clId="{2A18E86A-DD13-4F41-9A27-A4410A1FC91D}" dt="2022-01-05T09:22:46.794" v="228" actId="478"/>
          <ac:graphicFrameMkLst>
            <pc:docMk/>
            <pc:sldMk cId="3061258867" sldId="261"/>
            <ac:graphicFrameMk id="22" creationId="{C4E1A7B0-79F9-4088-952E-D10C76F84826}"/>
          </ac:graphicFrameMkLst>
        </pc:graphicFrameChg>
        <pc:graphicFrameChg chg="add del modGraphic">
          <ac:chgData name="Deepak Raj" userId="04e747b604d1eb61" providerId="LiveId" clId="{2A18E86A-DD13-4F41-9A27-A4410A1FC91D}" dt="2022-01-05T09:22:45.009" v="227" actId="478"/>
          <ac:graphicFrameMkLst>
            <pc:docMk/>
            <pc:sldMk cId="3061258867" sldId="261"/>
            <ac:graphicFrameMk id="24" creationId="{776E2B19-E6D3-416B-B1E9-46DF54ABF3E6}"/>
          </ac:graphicFrameMkLst>
        </pc:graphicFrameChg>
      </pc:sldChg>
      <pc:sldChg chg="modSp mod ord">
        <pc:chgData name="Deepak Raj" userId="04e747b604d1eb61" providerId="LiveId" clId="{2A18E86A-DD13-4F41-9A27-A4410A1FC91D}" dt="2022-01-05T05:41:49.632" v="221"/>
        <pc:sldMkLst>
          <pc:docMk/>
          <pc:sldMk cId="2999964714" sldId="262"/>
        </pc:sldMkLst>
        <pc:spChg chg="mod">
          <ac:chgData name="Deepak Raj" userId="04e747b604d1eb61" providerId="LiveId" clId="{2A18E86A-DD13-4F41-9A27-A4410A1FC91D}" dt="2022-01-05T05:15:50.128" v="119" actId="14100"/>
          <ac:spMkLst>
            <pc:docMk/>
            <pc:sldMk cId="2999964714" sldId="262"/>
            <ac:spMk id="2" creationId="{C873DF20-497A-4A86-9559-88A6A70E93AE}"/>
          </ac:spMkLst>
        </pc:spChg>
        <pc:spChg chg="mod">
          <ac:chgData name="Deepak Raj" userId="04e747b604d1eb61" providerId="LiveId" clId="{2A18E86A-DD13-4F41-9A27-A4410A1FC91D}" dt="2022-01-05T05:20:41.876" v="130" actId="12"/>
          <ac:spMkLst>
            <pc:docMk/>
            <pc:sldMk cId="2999964714" sldId="262"/>
            <ac:spMk id="3" creationId="{E5DD6BC0-0740-45B5-8CC3-04112726965F}"/>
          </ac:spMkLst>
        </pc:spChg>
        <pc:spChg chg="mod">
          <ac:chgData name="Deepak Raj" userId="04e747b604d1eb61" providerId="LiveId" clId="{2A18E86A-DD13-4F41-9A27-A4410A1FC91D}" dt="2022-01-05T05:09:42.276" v="40"/>
          <ac:spMkLst>
            <pc:docMk/>
            <pc:sldMk cId="2999964714" sldId="262"/>
            <ac:spMk id="4" creationId="{269F4CB9-B4C1-474C-9D2A-0CD522A555E0}"/>
          </ac:spMkLst>
        </pc:spChg>
        <pc:spChg chg="mod">
          <ac:chgData name="Deepak Raj" userId="04e747b604d1eb61" providerId="LiveId" clId="{2A18E86A-DD13-4F41-9A27-A4410A1FC91D}" dt="2022-01-05T05:09:42.276" v="40"/>
          <ac:spMkLst>
            <pc:docMk/>
            <pc:sldMk cId="2999964714" sldId="262"/>
            <ac:spMk id="6" creationId="{648C7508-5118-4975-A729-91F1A599A283}"/>
          </ac:spMkLst>
        </pc:spChg>
      </pc:sldChg>
      <pc:sldChg chg="modSp mod ord">
        <pc:chgData name="Deepak Raj" userId="04e747b604d1eb61" providerId="LiveId" clId="{2A18E86A-DD13-4F41-9A27-A4410A1FC91D}" dt="2022-01-05T05:41:49.632" v="221"/>
        <pc:sldMkLst>
          <pc:docMk/>
          <pc:sldMk cId="2756363567" sldId="263"/>
        </pc:sldMkLst>
        <pc:spChg chg="mod">
          <ac:chgData name="Deepak Raj" userId="04e747b604d1eb61" providerId="LiveId" clId="{2A18E86A-DD13-4F41-9A27-A4410A1FC91D}" dt="2022-01-05T05:21:08.440" v="133"/>
          <ac:spMkLst>
            <pc:docMk/>
            <pc:sldMk cId="2756363567" sldId="263"/>
            <ac:spMk id="2" creationId="{00000000-0000-0000-0000-000000000000}"/>
          </ac:spMkLst>
        </pc:spChg>
        <pc:spChg chg="mod">
          <ac:chgData name="Deepak Raj" userId="04e747b604d1eb61" providerId="LiveId" clId="{2A18E86A-DD13-4F41-9A27-A4410A1FC91D}" dt="2022-01-05T05:17:55.695" v="129" actId="12"/>
          <ac:spMkLst>
            <pc:docMk/>
            <pc:sldMk cId="2756363567" sldId="263"/>
            <ac:spMk id="3" creationId="{00000000-0000-0000-0000-000000000000}"/>
          </ac:spMkLst>
        </pc:spChg>
        <pc:spChg chg="mod">
          <ac:chgData name="Deepak Raj" userId="04e747b604d1eb61" providerId="LiveId" clId="{2A18E86A-DD13-4F41-9A27-A4410A1FC91D}" dt="2022-01-05T05:09:42.276" v="40"/>
          <ac:spMkLst>
            <pc:docMk/>
            <pc:sldMk cId="2756363567" sldId="263"/>
            <ac:spMk id="4" creationId="{00000000-0000-0000-0000-000000000000}"/>
          </ac:spMkLst>
        </pc:spChg>
        <pc:spChg chg="mod">
          <ac:chgData name="Deepak Raj" userId="04e747b604d1eb61" providerId="LiveId" clId="{2A18E86A-DD13-4F41-9A27-A4410A1FC91D}" dt="2022-01-05T05:09:42.276" v="40"/>
          <ac:spMkLst>
            <pc:docMk/>
            <pc:sldMk cId="2756363567" sldId="263"/>
            <ac:spMk id="5" creationId="{00000000-0000-0000-0000-000000000000}"/>
          </ac:spMkLst>
        </pc:spChg>
        <pc:spChg chg="mod">
          <ac:chgData name="Deepak Raj" userId="04e747b604d1eb61" providerId="LiveId" clId="{2A18E86A-DD13-4F41-9A27-A4410A1FC91D}" dt="2022-01-05T05:09:42.276" v="40"/>
          <ac:spMkLst>
            <pc:docMk/>
            <pc:sldMk cId="2756363567" sldId="263"/>
            <ac:spMk id="6" creationId="{00000000-0000-0000-0000-000000000000}"/>
          </ac:spMkLst>
        </pc:spChg>
      </pc:sldChg>
      <pc:sldChg chg="modSp mod ord">
        <pc:chgData name="Deepak Raj" userId="04e747b604d1eb61" providerId="LiveId" clId="{2A18E86A-DD13-4F41-9A27-A4410A1FC91D}" dt="2022-01-05T05:41:49.632" v="221"/>
        <pc:sldMkLst>
          <pc:docMk/>
          <pc:sldMk cId="1858278164" sldId="264"/>
        </pc:sldMkLst>
        <pc:spChg chg="mod">
          <ac:chgData name="Deepak Raj" userId="04e747b604d1eb61" providerId="LiveId" clId="{2A18E86A-DD13-4F41-9A27-A4410A1FC91D}" dt="2022-01-05T05:21:31.692" v="134"/>
          <ac:spMkLst>
            <pc:docMk/>
            <pc:sldMk cId="1858278164" sldId="264"/>
            <ac:spMk id="2" creationId="{00000000-0000-0000-0000-000000000000}"/>
          </ac:spMkLst>
        </pc:spChg>
        <pc:spChg chg="mod">
          <ac:chgData name="Deepak Raj" userId="04e747b604d1eb61" providerId="LiveId" clId="{2A18E86A-DD13-4F41-9A27-A4410A1FC91D}" dt="2022-01-05T05:09:42.276" v="40"/>
          <ac:spMkLst>
            <pc:docMk/>
            <pc:sldMk cId="1858278164" sldId="264"/>
            <ac:spMk id="3" creationId="{00000000-0000-0000-0000-000000000000}"/>
          </ac:spMkLst>
        </pc:spChg>
        <pc:spChg chg="mod">
          <ac:chgData name="Deepak Raj" userId="04e747b604d1eb61" providerId="LiveId" clId="{2A18E86A-DD13-4F41-9A27-A4410A1FC91D}" dt="2022-01-05T05:09:42.276" v="40"/>
          <ac:spMkLst>
            <pc:docMk/>
            <pc:sldMk cId="1858278164" sldId="264"/>
            <ac:spMk id="4" creationId="{00000000-0000-0000-0000-000000000000}"/>
          </ac:spMkLst>
        </pc:spChg>
        <pc:spChg chg="mod">
          <ac:chgData name="Deepak Raj" userId="04e747b604d1eb61" providerId="LiveId" clId="{2A18E86A-DD13-4F41-9A27-A4410A1FC91D}" dt="2022-01-05T05:09:42.276" v="40"/>
          <ac:spMkLst>
            <pc:docMk/>
            <pc:sldMk cId="1858278164" sldId="264"/>
            <ac:spMk id="5" creationId="{00000000-0000-0000-0000-000000000000}"/>
          </ac:spMkLst>
        </pc:spChg>
        <pc:spChg chg="mod">
          <ac:chgData name="Deepak Raj" userId="04e747b604d1eb61" providerId="LiveId" clId="{2A18E86A-DD13-4F41-9A27-A4410A1FC91D}" dt="2022-01-05T05:22:37.606" v="141" actId="12"/>
          <ac:spMkLst>
            <pc:docMk/>
            <pc:sldMk cId="1858278164" sldId="264"/>
            <ac:spMk id="6" creationId="{00000000-0000-0000-0000-000000000000}"/>
          </ac:spMkLst>
        </pc:spChg>
      </pc:sldChg>
      <pc:sldChg chg="modSp mod">
        <pc:chgData name="Deepak Raj" userId="04e747b604d1eb61" providerId="LiveId" clId="{2A18E86A-DD13-4F41-9A27-A4410A1FC91D}" dt="2022-01-05T05:13:03.111" v="104" actId="20577"/>
        <pc:sldMkLst>
          <pc:docMk/>
          <pc:sldMk cId="3278773090" sldId="266"/>
        </pc:sldMkLst>
        <pc:spChg chg="mod">
          <ac:chgData name="Deepak Raj" userId="04e747b604d1eb61" providerId="LiveId" clId="{2A18E86A-DD13-4F41-9A27-A4410A1FC91D}" dt="2022-01-05T05:13:03.111" v="104" actId="20577"/>
          <ac:spMkLst>
            <pc:docMk/>
            <pc:sldMk cId="3278773090" sldId="266"/>
            <ac:spMk id="2" creationId="{3A70BDD2-A4C2-4464-819E-01B4F90A4EF1}"/>
          </ac:spMkLst>
        </pc:spChg>
        <pc:spChg chg="mod">
          <ac:chgData name="Deepak Raj" userId="04e747b604d1eb61" providerId="LiveId" clId="{2A18E86A-DD13-4F41-9A27-A4410A1FC91D}" dt="2022-01-05T05:09:42.276" v="40"/>
          <ac:spMkLst>
            <pc:docMk/>
            <pc:sldMk cId="3278773090" sldId="266"/>
            <ac:spMk id="3" creationId="{3CA18266-F6C2-4237-8FEC-56A615E922F4}"/>
          </ac:spMkLst>
        </pc:spChg>
        <pc:spChg chg="mod">
          <ac:chgData name="Deepak Raj" userId="04e747b604d1eb61" providerId="LiveId" clId="{2A18E86A-DD13-4F41-9A27-A4410A1FC91D}" dt="2022-01-05T05:09:42.276" v="40"/>
          <ac:spMkLst>
            <pc:docMk/>
            <pc:sldMk cId="3278773090" sldId="266"/>
            <ac:spMk id="4" creationId="{47B06B96-AA60-4A7F-BBCA-3C2BA35C771E}"/>
          </ac:spMkLst>
        </pc:spChg>
        <pc:spChg chg="mod">
          <ac:chgData name="Deepak Raj" userId="04e747b604d1eb61" providerId="LiveId" clId="{2A18E86A-DD13-4F41-9A27-A4410A1FC91D}" dt="2022-01-05T05:09:42.276" v="40"/>
          <ac:spMkLst>
            <pc:docMk/>
            <pc:sldMk cId="3278773090" sldId="266"/>
            <ac:spMk id="5" creationId="{93DBA3A0-1F77-41A5-B7E9-9E3114D0A566}"/>
          </ac:spMkLst>
        </pc:spChg>
        <pc:spChg chg="mod">
          <ac:chgData name="Deepak Raj" userId="04e747b604d1eb61" providerId="LiveId" clId="{2A18E86A-DD13-4F41-9A27-A4410A1FC91D}" dt="2022-01-05T05:12:20.693" v="60" actId="14100"/>
          <ac:spMkLst>
            <pc:docMk/>
            <pc:sldMk cId="3278773090" sldId="266"/>
            <ac:spMk id="6" creationId="{B30AB221-E7EB-4FD1-9247-F1CD2BB79276}"/>
          </ac:spMkLst>
        </pc:spChg>
      </pc:sldChg>
      <pc:sldChg chg="addSp delSp modSp mod ord">
        <pc:chgData name="Deepak Raj" userId="04e747b604d1eb61" providerId="LiveId" clId="{2A18E86A-DD13-4F41-9A27-A4410A1FC91D}" dt="2022-01-05T10:07:02.968" v="238" actId="1076"/>
        <pc:sldMkLst>
          <pc:docMk/>
          <pc:sldMk cId="38152939" sldId="267"/>
        </pc:sldMkLst>
        <pc:spChg chg="mod">
          <ac:chgData name="Deepak Raj" userId="04e747b604d1eb61" providerId="LiveId" clId="{2A18E86A-DD13-4F41-9A27-A4410A1FC91D}" dt="2022-01-05T05:13:28.721" v="105"/>
          <ac:spMkLst>
            <pc:docMk/>
            <pc:sldMk cId="38152939" sldId="267"/>
            <ac:spMk id="2" creationId="{00000000-0000-0000-0000-000000000000}"/>
          </ac:spMkLst>
        </pc:spChg>
        <pc:picChg chg="add del mod">
          <ac:chgData name="Deepak Raj" userId="04e747b604d1eb61" providerId="LiveId" clId="{2A18E86A-DD13-4F41-9A27-A4410A1FC91D}" dt="2022-01-05T10:06:50.961" v="237" actId="478"/>
          <ac:picMkLst>
            <pc:docMk/>
            <pc:sldMk cId="38152939" sldId="267"/>
            <ac:picMk id="4" creationId="{FD625A94-0150-4A89-A636-0446D1630A4E}"/>
          </ac:picMkLst>
        </pc:picChg>
        <pc:picChg chg="mod">
          <ac:chgData name="Deepak Raj" userId="04e747b604d1eb61" providerId="LiveId" clId="{2A18E86A-DD13-4F41-9A27-A4410A1FC91D}" dt="2022-01-05T10:07:02.968" v="238" actId="1076"/>
          <ac:picMkLst>
            <pc:docMk/>
            <pc:sldMk cId="38152939" sldId="267"/>
            <ac:picMk id="1026" creationId="{00000000-0000-0000-0000-000000000000}"/>
          </ac:picMkLst>
        </pc:picChg>
      </pc:sldChg>
      <pc:sldChg chg="addSp modSp mod">
        <pc:chgData name="Deepak Raj" userId="04e747b604d1eb61" providerId="LiveId" clId="{2A18E86A-DD13-4F41-9A27-A4410A1FC91D}" dt="2022-01-05T05:40:51.763" v="219" actId="20577"/>
        <pc:sldMkLst>
          <pc:docMk/>
          <pc:sldMk cId="554532375" sldId="268"/>
        </pc:sldMkLst>
        <pc:spChg chg="mod">
          <ac:chgData name="Deepak Raj" userId="04e747b604d1eb61" providerId="LiveId" clId="{2A18E86A-DD13-4F41-9A27-A4410A1FC91D}" dt="2022-01-05T05:40:51.763" v="219" actId="20577"/>
          <ac:spMkLst>
            <pc:docMk/>
            <pc:sldMk cId="554532375" sldId="268"/>
            <ac:spMk id="3" creationId="{00000000-0000-0000-0000-000000000000}"/>
          </ac:spMkLst>
        </pc:spChg>
        <pc:spChg chg="add mod">
          <ac:chgData name="Deepak Raj" userId="04e747b604d1eb61" providerId="LiveId" clId="{2A18E86A-DD13-4F41-9A27-A4410A1FC91D}" dt="2022-01-05T05:24:31.785" v="148" actId="1076"/>
          <ac:spMkLst>
            <pc:docMk/>
            <pc:sldMk cId="554532375" sldId="268"/>
            <ac:spMk id="4" creationId="{122FF1D4-E041-4348-9FA6-A3A8C16A77E3}"/>
          </ac:spMkLst>
        </pc:spChg>
      </pc:sldChg>
      <pc:sldChg chg="modSp mod ord">
        <pc:chgData name="Deepak Raj" userId="04e747b604d1eb61" providerId="LiveId" clId="{2A18E86A-DD13-4F41-9A27-A4410A1FC91D}" dt="2022-01-05T05:41:49.632" v="221"/>
        <pc:sldMkLst>
          <pc:docMk/>
          <pc:sldMk cId="2366743823" sldId="269"/>
        </pc:sldMkLst>
        <pc:graphicFrameChg chg="mod modGraphic">
          <ac:chgData name="Deepak Raj" userId="04e747b604d1eb61" providerId="LiveId" clId="{2A18E86A-DD13-4F41-9A27-A4410A1FC91D}" dt="2022-01-05T05:26:36.445" v="161" actId="14100"/>
          <ac:graphicFrameMkLst>
            <pc:docMk/>
            <pc:sldMk cId="2366743823" sldId="269"/>
            <ac:graphicFrameMk id="4" creationId="{00000000-0000-0000-0000-000000000000}"/>
          </ac:graphicFrameMkLst>
        </pc:graphicFrameChg>
      </pc:sldChg>
      <pc:sldChg chg="modSp new mod ord">
        <pc:chgData name="Deepak Raj" userId="04e747b604d1eb61" providerId="LiveId" clId="{2A18E86A-DD13-4F41-9A27-A4410A1FC91D}" dt="2022-01-05T05:41:49.632" v="221"/>
        <pc:sldMkLst>
          <pc:docMk/>
          <pc:sldMk cId="3741152481" sldId="270"/>
        </pc:sldMkLst>
        <pc:spChg chg="mod">
          <ac:chgData name="Deepak Raj" userId="04e747b604d1eb61" providerId="LiveId" clId="{2A18E86A-DD13-4F41-9A27-A4410A1FC91D}" dt="2022-01-05T05:09:42.276" v="40"/>
          <ac:spMkLst>
            <pc:docMk/>
            <pc:sldMk cId="3741152481" sldId="270"/>
            <ac:spMk id="2" creationId="{7E13D05F-62BD-4830-94E3-2AB430162996}"/>
          </ac:spMkLst>
        </pc:spChg>
        <pc:spChg chg="mod">
          <ac:chgData name="Deepak Raj" userId="04e747b604d1eb61" providerId="LiveId" clId="{2A18E86A-DD13-4F41-9A27-A4410A1FC91D}" dt="2022-01-05T05:33:18.086" v="211" actId="14100"/>
          <ac:spMkLst>
            <pc:docMk/>
            <pc:sldMk cId="3741152481" sldId="270"/>
            <ac:spMk id="3" creationId="{9DAEA48C-E5C3-47F3-B404-57F5ABD7215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2873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7432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20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08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1574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2320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0414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61BEF0D-F0BB-DE4B-95CE-6DB70DBA9567}" type="datetimeFigureOut">
              <a:rPr lang="en-US" smtClean="0"/>
              <a:pPr/>
              <a:t>5/29/2026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2471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459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8288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87859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927393AC-19B4-44D8-99D7-F6A8EFFD1173}" type="datetime1">
              <a:rPr lang="en-IN" smtClean="0"/>
              <a:pPr/>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3D5AED-D04D-48C0-8E85-AB00F7D41487}" type="slidenum">
              <a:rPr lang="en-IN" smtClean="0"/>
              <a:pPr/>
              <a:t>‹#›</a:t>
            </a:fld>
            <a:endParaRPr lang="en-IN"/>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65009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5/29/2026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15832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1109/ICECDS.2017.8389696" TargetMode="External"/><Relationship Id="rId2" Type="http://schemas.openxmlformats.org/officeDocument/2006/relationships/hyperlink" Target="https://doi.org/10.1109/CCCI49893.2020.9256587" TargetMode="Externa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CFB75C4-0418-4644-8519-67380ED1A455}"/>
              </a:ext>
            </a:extLst>
          </p:cNvPr>
          <p:cNvSpPr txBox="1">
            <a:spLocks/>
          </p:cNvSpPr>
          <p:nvPr/>
        </p:nvSpPr>
        <p:spPr>
          <a:xfrm>
            <a:off x="1524000" y="2340429"/>
            <a:ext cx="9144000" cy="1361660"/>
          </a:xfrm>
          <a:prstGeom prst="rect">
            <a:avLst/>
          </a:prstGeom>
        </p:spPr>
        <p:txBody>
          <a:bodyPr vert="horz" lIns="91440" tIns="45720" rIns="91440" bIns="45720" rtlCol="0" anchor="b">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Analysis of COVID-19 Tweets Using EID3 Decision Tree Algorithm in Spark Environment  </a:t>
            </a:r>
          </a:p>
        </p:txBody>
      </p:sp>
    </p:spTree>
    <p:extLst>
      <p:ext uri="{BB962C8B-B14F-4D97-AF65-F5344CB8AC3E}">
        <p14:creationId xmlns:p14="http://schemas.microsoft.com/office/powerpoint/2010/main" val="3061258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DF20-497A-4A86-9559-88A6A70E93AE}"/>
              </a:ext>
            </a:extLst>
          </p:cNvPr>
          <p:cNvSpPr>
            <a:spLocks noGrp="1"/>
          </p:cNvSpPr>
          <p:nvPr>
            <p:ph type="title"/>
          </p:nvPr>
        </p:nvSpPr>
        <p:spPr>
          <a:xfrm>
            <a:off x="850392" y="816230"/>
            <a:ext cx="10515600" cy="473968"/>
          </a:xfrm>
        </p:spPr>
        <p:txBody>
          <a:bodyPr>
            <a:normAutofit/>
          </a:bodyPr>
          <a:lstStyle/>
          <a:p>
            <a:r>
              <a:rPr lang="en-IN" sz="1800" b="1" dirty="0">
                <a:latin typeface="Times New Roman" panose="02020603050405020304" pitchFamily="18" charset="0"/>
                <a:cs typeface="Times New Roman" panose="02020603050405020304" pitchFamily="18" charset="0"/>
              </a:rPr>
              <a:t>Index</a:t>
            </a:r>
          </a:p>
        </p:txBody>
      </p:sp>
      <p:sp>
        <p:nvSpPr>
          <p:cNvPr id="4" name="Date Placeholder 3">
            <a:extLst>
              <a:ext uri="{FF2B5EF4-FFF2-40B4-BE49-F238E27FC236}">
                <a16:creationId xmlns:a16="http://schemas.microsoft.com/office/drawing/2014/main" id="{269F4CB9-B4C1-474C-9D2A-0CD522A555E0}"/>
              </a:ext>
            </a:extLst>
          </p:cNvPr>
          <p:cNvSpPr>
            <a:spLocks noGrp="1"/>
          </p:cNvSpPr>
          <p:nvPr>
            <p:ph type="dt" sz="half" idx="10"/>
          </p:nvPr>
        </p:nvSpPr>
        <p:spPr>
          <a:xfrm>
            <a:off x="712966" y="6386857"/>
            <a:ext cx="2472271" cy="365125"/>
          </a:xfrm>
        </p:spPr>
        <p:txBody>
          <a:bodyPr/>
          <a:lstStyle/>
          <a:p>
            <a:fld id="{E519B60A-71DE-47F7-9128-4959FF6FC237}" type="datetime1">
              <a:rPr lang="en-IN" smtClean="0"/>
              <a:pPr/>
              <a:t>29-05-2026</a:t>
            </a:fld>
            <a:r>
              <a:rPr lang="en-IN" dirty="0"/>
              <a:t>                     </a:t>
            </a:r>
          </a:p>
        </p:txBody>
      </p:sp>
      <p:sp>
        <p:nvSpPr>
          <p:cNvPr id="6" name="Slide Number Placeholder 5">
            <a:extLst>
              <a:ext uri="{FF2B5EF4-FFF2-40B4-BE49-F238E27FC236}">
                <a16:creationId xmlns:a16="http://schemas.microsoft.com/office/drawing/2014/main" id="{648C7508-5118-4975-A729-91F1A599A283}"/>
              </a:ext>
            </a:extLst>
          </p:cNvPr>
          <p:cNvSpPr>
            <a:spLocks noGrp="1"/>
          </p:cNvSpPr>
          <p:nvPr>
            <p:ph type="sldNum" sz="quarter" idx="12"/>
          </p:nvPr>
        </p:nvSpPr>
        <p:spPr/>
        <p:txBody>
          <a:bodyPr/>
          <a:lstStyle/>
          <a:p>
            <a:fld id="{FB3D5AED-D04D-48C0-8E85-AB00F7D41487}" type="slidenum">
              <a:rPr lang="en-IN" smtClean="0"/>
              <a:pPr/>
              <a:t>2</a:t>
            </a:fld>
            <a:endParaRPr lang="en-IN"/>
          </a:p>
        </p:txBody>
      </p:sp>
      <p:sp>
        <p:nvSpPr>
          <p:cNvPr id="3" name="Content Placeholder 2">
            <a:extLst>
              <a:ext uri="{FF2B5EF4-FFF2-40B4-BE49-F238E27FC236}">
                <a16:creationId xmlns:a16="http://schemas.microsoft.com/office/drawing/2014/main" id="{E5DD6BC0-0740-45B5-8CC3-04112726965F}"/>
              </a:ext>
            </a:extLst>
          </p:cNvPr>
          <p:cNvSpPr>
            <a:spLocks noGrp="1"/>
          </p:cNvSpPr>
          <p:nvPr>
            <p:ph sz="quarter" idx="13"/>
          </p:nvPr>
        </p:nvSpPr>
        <p:spPr>
          <a:xfrm>
            <a:off x="838200" y="2108718"/>
            <a:ext cx="10515600" cy="4068245"/>
          </a:xfrm>
        </p:spPr>
        <p:txBody>
          <a:bodyPr>
            <a:norm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Problem statement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Objectives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Literature Survey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Existing System</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Proposed System</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References</a:t>
            </a:r>
          </a:p>
          <a:p>
            <a:pPr marL="0" indent="0">
              <a:buNone/>
            </a:pPr>
            <a:endParaRPr lang="en-IN" sz="3600" dirty="0">
              <a:latin typeface="Agency FB" panose="020B0503020202020204" pitchFamily="34" charset="0"/>
            </a:endParaRPr>
          </a:p>
        </p:txBody>
      </p:sp>
    </p:spTree>
    <p:extLst>
      <p:ext uri="{BB962C8B-B14F-4D97-AF65-F5344CB8AC3E}">
        <p14:creationId xmlns:p14="http://schemas.microsoft.com/office/powerpoint/2010/main" val="2999964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6224" y="603822"/>
            <a:ext cx="10566400" cy="539178"/>
          </a:xfrm>
        </p:spPr>
        <p:txBody>
          <a:bodyPr>
            <a:normAutofit/>
          </a:bodyPr>
          <a:lstStyle/>
          <a:p>
            <a:r>
              <a:rPr lang="en-US" sz="1800" b="1" dirty="0">
                <a:latin typeface="Times New Roman" panose="02020603050405020304" pitchFamily="18" charset="0"/>
                <a:cs typeface="Times New Roman" panose="02020603050405020304" pitchFamily="18" charset="0"/>
              </a:rPr>
              <a:t>INTRODUCTION</a:t>
            </a:r>
            <a:endParaRPr lang="en-IN" sz="18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27393AC-19B4-44D8-99D7-F6A8EFFD1173}" type="datetime1">
              <a:rPr lang="en-IN" smtClean="0"/>
              <a:pPr/>
              <a:t>29-05-2026</a:t>
            </a:fld>
            <a:endParaRPr lang="en-IN"/>
          </a:p>
        </p:txBody>
      </p:sp>
      <p:sp>
        <p:nvSpPr>
          <p:cNvPr id="6" name="Slide Number Placeholder 5"/>
          <p:cNvSpPr>
            <a:spLocks noGrp="1"/>
          </p:cNvSpPr>
          <p:nvPr>
            <p:ph type="sldNum" sz="quarter" idx="12"/>
          </p:nvPr>
        </p:nvSpPr>
        <p:spPr/>
        <p:txBody>
          <a:bodyPr/>
          <a:lstStyle/>
          <a:p>
            <a:fld id="{FB3D5AED-D04D-48C0-8E85-AB00F7D41487}" type="slidenum">
              <a:rPr lang="en-IN" smtClean="0"/>
              <a:pPr/>
              <a:t>3</a:t>
            </a:fld>
            <a:endParaRPr lang="en-IN"/>
          </a:p>
        </p:txBody>
      </p:sp>
      <p:sp>
        <p:nvSpPr>
          <p:cNvPr id="3" name="Content Placeholder 2"/>
          <p:cNvSpPr>
            <a:spLocks noGrp="1"/>
          </p:cNvSpPr>
          <p:nvPr>
            <p:ph sz="quarter" idx="13"/>
          </p:nvPr>
        </p:nvSpPr>
        <p:spPr>
          <a:xfrm>
            <a:off x="812800" y="2118049"/>
            <a:ext cx="10566400" cy="4058815"/>
          </a:xfrm>
        </p:spPr>
        <p:txBody>
          <a:bodyPr>
            <a:normAutofit/>
          </a:bodyPr>
          <a:lstStyle/>
          <a:p>
            <a:pPr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With the ever-spreading of online purchasing websites, micro-blogging sites, and social media platforms we have taken the advantage by using the reviews, tweets and blogs acquired from these social media networks, which act as a significant source for enhancing the decision making process using big data. </a:t>
            </a:r>
          </a:p>
          <a:p>
            <a:pPr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The obtained textual data (reviews, tweets or blogs) are classified into 3 different class labels which are negative, neutral and positive for analysing and extracting relevant information from the given dataset using a new algorithm ‘EID3’. </a:t>
            </a:r>
          </a:p>
          <a:p>
            <a:pPr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Firstly we have used several feature extractors to efficiently detect and capture the relevant data from the given tweets, after this we have applied a multiple feature selector to reduce the high feature’s dimensionality, finally we have employed the obtained features to carry out the classification task using our ‘EID3’ algorithm. This work is implemented in a Spark environment using the python programming language.</a:t>
            </a:r>
          </a:p>
          <a:p>
            <a:pPr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Big data is a collection of massive and complex data sets and data volume that include the huge quantities of data, data management capabilities, social media analytics and real-time data. Big data analytics is the process of examining large amounts of data.</a:t>
            </a:r>
          </a:p>
          <a:p>
            <a:pPr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A classification algorithm is a function that weighs the input features so that the output separates one class into positive values and the other into negative values. The basic idea of ID3 algorithm is to construct the decision tree by employing a top-down, greedy search through the given sets to test each attribute at every tree node. We analyse the covid-19 tweets using EID3 algorithm to create awareness so that measures and precautions are taken to avoid covid-19 using datasets in spark.</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2756363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376" y="823278"/>
            <a:ext cx="10566400" cy="455016"/>
          </a:xfrm>
        </p:spPr>
        <p:txBody>
          <a:bodyPr>
            <a:normAutofit/>
          </a:bodyPr>
          <a:lstStyle/>
          <a:p>
            <a:r>
              <a:rPr lang="en-US" sz="1800" b="1" dirty="0">
                <a:latin typeface="Times New Roman" panose="02020603050405020304" pitchFamily="18" charset="0"/>
                <a:cs typeface="Times New Roman" panose="02020603050405020304" pitchFamily="18" charset="0"/>
              </a:rPr>
              <a:t>PROBLEM STATEMENT </a:t>
            </a:r>
            <a:endParaRPr lang="en-IN" sz="1800" b="1"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927393AC-19B4-44D8-99D7-F6A8EFFD1173}" type="datetime1">
              <a:rPr lang="en-IN" smtClean="0"/>
              <a:pPr/>
              <a:t>29-05-2026</a:t>
            </a:fld>
            <a:endParaRPr lang="en-IN"/>
          </a:p>
        </p:txBody>
      </p:sp>
      <p:sp>
        <p:nvSpPr>
          <p:cNvPr id="5" name="Slide Number Placeholder 4"/>
          <p:cNvSpPr>
            <a:spLocks noGrp="1"/>
          </p:cNvSpPr>
          <p:nvPr>
            <p:ph type="sldNum" sz="quarter" idx="12"/>
          </p:nvPr>
        </p:nvSpPr>
        <p:spPr/>
        <p:txBody>
          <a:bodyPr/>
          <a:lstStyle/>
          <a:p>
            <a:fld id="{FB3D5AED-D04D-48C0-8E85-AB00F7D41487}" type="slidenum">
              <a:rPr lang="en-IN" smtClean="0"/>
              <a:pPr/>
              <a:t>4</a:t>
            </a:fld>
            <a:endParaRPr lang="en-IN"/>
          </a:p>
        </p:txBody>
      </p:sp>
      <p:sp>
        <p:nvSpPr>
          <p:cNvPr id="6" name="Content Placeholder 5"/>
          <p:cNvSpPr>
            <a:spLocks noGrp="1"/>
          </p:cNvSpPr>
          <p:nvPr>
            <p:ph sz="quarter" idx="13"/>
          </p:nvPr>
        </p:nvSpPr>
        <p:spPr>
          <a:xfrm>
            <a:off x="812800" y="2565918"/>
            <a:ext cx="10566400" cy="3149081"/>
          </a:xfrm>
        </p:spPr>
        <p:txBody>
          <a:bodyPr/>
          <a:lstStyle/>
          <a:p>
            <a:pPr lvl="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Due to increasing deaths and  infection because of corona virus, tweets have been flourishing in social media we </a:t>
            </a:r>
            <a:r>
              <a:rPr lang="en-US" sz="1400" dirty="0">
                <a:latin typeface="Times New Roman" panose="02020603050405020304" pitchFamily="18" charset="0"/>
                <a:cs typeface="Times New Roman" panose="02020603050405020304" pitchFamily="18" charset="0"/>
              </a:rPr>
              <a:t>use an algorithm to classify covid-19 tweets based  on their  polarity (negative or positive) and then to eliminate  negative tweets and extract information from  positive tweets. These tweets are used create awareness, measures and  precaution to prevent covid-19. This is done using  big datasets with help of a  spark. </a:t>
            </a:r>
            <a:endParaRPr lang="en-IN" sz="1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58278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B5FB4-ECD7-4F3D-8609-92C9D159DEB8}"/>
              </a:ext>
            </a:extLst>
          </p:cNvPr>
          <p:cNvSpPr>
            <a:spLocks noGrp="1"/>
          </p:cNvSpPr>
          <p:nvPr>
            <p:ph type="title"/>
          </p:nvPr>
        </p:nvSpPr>
        <p:spPr>
          <a:xfrm>
            <a:off x="649225" y="709127"/>
            <a:ext cx="10131425" cy="662473"/>
          </a:xfrm>
        </p:spPr>
        <p:txBody>
          <a:bodyPr>
            <a:normAutofit/>
          </a:bodyPr>
          <a:lstStyle/>
          <a:p>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OBJECTIVES</a:t>
            </a:r>
            <a:endParaRPr lang="en-IN" sz="1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470658-CBE0-41DD-9301-4F15750D671E}"/>
              </a:ext>
            </a:extLst>
          </p:cNvPr>
          <p:cNvSpPr>
            <a:spLocks noGrp="1"/>
          </p:cNvSpPr>
          <p:nvPr>
            <p:ph idx="1"/>
          </p:nvPr>
        </p:nvSpPr>
        <p:spPr>
          <a:xfrm>
            <a:off x="685801" y="2425959"/>
            <a:ext cx="10131425" cy="3365242"/>
          </a:xfrm>
        </p:spPr>
        <p:txBody>
          <a:bodyPr>
            <a:normAutofit/>
          </a:bodyPr>
          <a:lstStyle/>
          <a:p>
            <a:pPr lvl="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extract relevant data from the tweet by performing feature extraction.</a:t>
            </a:r>
            <a:endParaRPr lang="en-IN" sz="1400" dirty="0">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enhance the performance of a well –known algorithm classifier in terms of accuracy, execution time and ability to handle the massive datasets.</a:t>
            </a:r>
            <a:endParaRPr lang="en-IN" sz="1400" dirty="0">
              <a:latin typeface="Times New Roman" panose="02020603050405020304" pitchFamily="18" charset="0"/>
              <a:cs typeface="Times New Roman" panose="02020603050405020304" pitchFamily="18" charset="0"/>
            </a:endParaRPr>
          </a:p>
          <a:p>
            <a:pPr lvl="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integrate the weighted theory and information gain criteria using our novel algorithm.</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2450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A5F65-F97D-4E8C-94E1-6948AF3AC9F1}"/>
              </a:ext>
            </a:extLst>
          </p:cNvPr>
          <p:cNvSpPr>
            <a:spLocks noGrp="1"/>
          </p:cNvSpPr>
          <p:nvPr>
            <p:ph type="title"/>
          </p:nvPr>
        </p:nvSpPr>
        <p:spPr>
          <a:xfrm>
            <a:off x="551689" y="-85344"/>
            <a:ext cx="10131425" cy="495892"/>
          </a:xfrm>
        </p:spPr>
        <p:txBody>
          <a:bodyPr>
            <a:normAutofit/>
          </a:bodyPr>
          <a:lstStyle/>
          <a:p>
            <a:r>
              <a:rPr lang="en-GB" sz="1800" b="1" dirty="0">
                <a:latin typeface="Times New Roman" panose="02020603050405020304" pitchFamily="18" charset="0"/>
                <a:cs typeface="Times New Roman" panose="02020603050405020304" pitchFamily="18" charset="0"/>
              </a:rPr>
              <a:t>LITERATURE SURVEY</a:t>
            </a:r>
            <a:endParaRPr lang="en-IN" sz="1800" b="1"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703750696"/>
              </p:ext>
            </p:extLst>
          </p:nvPr>
        </p:nvGraphicFramePr>
        <p:xfrm>
          <a:off x="633983" y="503853"/>
          <a:ext cx="10509505" cy="5833591"/>
        </p:xfrm>
        <a:graphic>
          <a:graphicData uri="http://schemas.openxmlformats.org/drawingml/2006/table">
            <a:tbl>
              <a:tblPr firstRow="1" bandRow="1">
                <a:tableStyleId>{5C22544A-7EE6-4342-B048-85BDC9FD1C3A}</a:tableStyleId>
              </a:tblPr>
              <a:tblGrid>
                <a:gridCol w="734077">
                  <a:extLst>
                    <a:ext uri="{9D8B030D-6E8A-4147-A177-3AD203B41FA5}">
                      <a16:colId xmlns:a16="http://schemas.microsoft.com/office/drawing/2014/main" val="20000"/>
                    </a:ext>
                  </a:extLst>
                </a:gridCol>
                <a:gridCol w="1749545">
                  <a:extLst>
                    <a:ext uri="{9D8B030D-6E8A-4147-A177-3AD203B41FA5}">
                      <a16:colId xmlns:a16="http://schemas.microsoft.com/office/drawing/2014/main" val="20001"/>
                    </a:ext>
                  </a:extLst>
                </a:gridCol>
                <a:gridCol w="2138072">
                  <a:extLst>
                    <a:ext uri="{9D8B030D-6E8A-4147-A177-3AD203B41FA5}">
                      <a16:colId xmlns:a16="http://schemas.microsoft.com/office/drawing/2014/main" val="20002"/>
                    </a:ext>
                  </a:extLst>
                </a:gridCol>
                <a:gridCol w="1715820">
                  <a:extLst>
                    <a:ext uri="{9D8B030D-6E8A-4147-A177-3AD203B41FA5}">
                      <a16:colId xmlns:a16="http://schemas.microsoft.com/office/drawing/2014/main" val="20003"/>
                    </a:ext>
                  </a:extLst>
                </a:gridCol>
                <a:gridCol w="2030940">
                  <a:extLst>
                    <a:ext uri="{9D8B030D-6E8A-4147-A177-3AD203B41FA5}">
                      <a16:colId xmlns:a16="http://schemas.microsoft.com/office/drawing/2014/main" val="20004"/>
                    </a:ext>
                  </a:extLst>
                </a:gridCol>
                <a:gridCol w="2141051">
                  <a:extLst>
                    <a:ext uri="{9D8B030D-6E8A-4147-A177-3AD203B41FA5}">
                      <a16:colId xmlns:a16="http://schemas.microsoft.com/office/drawing/2014/main" val="20005"/>
                    </a:ext>
                  </a:extLst>
                </a:gridCol>
              </a:tblGrid>
              <a:tr h="444373">
                <a:tc>
                  <a:txBody>
                    <a:bodyPr/>
                    <a:lstStyle/>
                    <a:p>
                      <a:r>
                        <a:rPr lang="en-US" dirty="0" err="1"/>
                        <a:t>Sl</a:t>
                      </a:r>
                      <a:r>
                        <a:rPr lang="en-US" dirty="0"/>
                        <a:t> No</a:t>
                      </a:r>
                      <a:endParaRPr lang="en-IN" dirty="0"/>
                    </a:p>
                  </a:txBody>
                  <a:tcPr/>
                </a:tc>
                <a:tc>
                  <a:txBody>
                    <a:bodyPr/>
                    <a:lstStyle/>
                    <a:p>
                      <a:r>
                        <a:rPr lang="en-US" dirty="0"/>
                        <a:t>Author</a:t>
                      </a:r>
                      <a:endParaRPr lang="en-IN" dirty="0"/>
                    </a:p>
                  </a:txBody>
                  <a:tcPr/>
                </a:tc>
                <a:tc>
                  <a:txBody>
                    <a:bodyPr/>
                    <a:lstStyle/>
                    <a:p>
                      <a:r>
                        <a:rPr lang="en-US" dirty="0"/>
                        <a:t>Paper Title</a:t>
                      </a:r>
                      <a:endParaRPr lang="en-IN" dirty="0"/>
                    </a:p>
                  </a:txBody>
                  <a:tcPr/>
                </a:tc>
                <a:tc>
                  <a:txBody>
                    <a:bodyPr/>
                    <a:lstStyle/>
                    <a:p>
                      <a:r>
                        <a:rPr lang="en-US" dirty="0"/>
                        <a:t>Technique</a:t>
                      </a:r>
                      <a:endParaRPr lang="en-IN" dirty="0"/>
                    </a:p>
                  </a:txBody>
                  <a:tcPr/>
                </a:tc>
                <a:tc>
                  <a:txBody>
                    <a:bodyPr/>
                    <a:lstStyle/>
                    <a:p>
                      <a:r>
                        <a:rPr lang="en-US" dirty="0"/>
                        <a:t>Advantages</a:t>
                      </a:r>
                      <a:endParaRPr lang="en-IN" dirty="0"/>
                    </a:p>
                  </a:txBody>
                  <a:tcPr/>
                </a:tc>
                <a:tc>
                  <a:txBody>
                    <a:bodyPr/>
                    <a:lstStyle/>
                    <a:p>
                      <a:r>
                        <a:rPr lang="en-US" dirty="0"/>
                        <a:t>Disadvantages</a:t>
                      </a:r>
                      <a:endParaRPr lang="en-IN" dirty="0"/>
                    </a:p>
                  </a:txBody>
                  <a:tcPr/>
                </a:tc>
                <a:extLst>
                  <a:ext uri="{0D108BD9-81ED-4DB2-BD59-A6C34878D82A}">
                    <a16:rowId xmlns:a16="http://schemas.microsoft.com/office/drawing/2014/main" val="10000"/>
                  </a:ext>
                </a:extLst>
              </a:tr>
              <a:tr h="2100119">
                <a:tc>
                  <a:txBody>
                    <a:bodyPr/>
                    <a:lstStyle/>
                    <a:p>
                      <a:r>
                        <a:rPr lang="en-US" sz="1200" dirty="0">
                          <a:latin typeface="Times New Roman" panose="02020603050405020304" pitchFamily="18" charset="0"/>
                          <a:cs typeface="Times New Roman" panose="02020603050405020304" pitchFamily="18" charset="0"/>
                        </a:rPr>
                        <a:t>1</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IN" sz="1200" dirty="0">
                          <a:latin typeface="Times New Roman" panose="02020603050405020304" pitchFamily="18" charset="0"/>
                          <a:cs typeface="Times New Roman" panose="02020603050405020304" pitchFamily="18" charset="0"/>
                        </a:rPr>
                        <a:t>Es-</a:t>
                      </a:r>
                      <a:r>
                        <a:rPr lang="en-IN" sz="1200" dirty="0" err="1">
                          <a:latin typeface="Times New Roman" panose="02020603050405020304" pitchFamily="18" charset="0"/>
                          <a:cs typeface="Times New Roman" panose="02020603050405020304" pitchFamily="18" charset="0"/>
                        </a:rPr>
                        <a:t>Sabery</a:t>
                      </a:r>
                      <a:endParaRPr lang="en-IN"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a:latin typeface="Times New Roman" panose="02020603050405020304" pitchFamily="18" charset="0"/>
                          <a:cs typeface="Times New Roman" panose="02020603050405020304" pitchFamily="18" charset="0"/>
                        </a:rPr>
                        <a:t>A Map-reduce opinion mining for covid-19 related tweets classification using ID3 decision tree classifier </a:t>
                      </a:r>
                    </a:p>
                  </a:txBody>
                  <a:tcPr/>
                </a:tc>
                <a:tc>
                  <a:txBody>
                    <a:bodyPr/>
                    <a:lstStyle/>
                    <a:p>
                      <a:pPr algn="l"/>
                      <a:r>
                        <a:rPr lang="en-IN" sz="1200" dirty="0">
                          <a:latin typeface="Times New Roman" panose="02020603050405020304" pitchFamily="18" charset="0"/>
                          <a:cs typeface="Times New Roman" panose="02020603050405020304" pitchFamily="18" charset="0"/>
                        </a:rPr>
                        <a:t>ID3 algorithm, N-gram, Bag-of-words, </a:t>
                      </a:r>
                      <a:r>
                        <a:rPr lang="en-IN" sz="1200" dirty="0" err="1">
                          <a:latin typeface="Times New Roman" panose="02020603050405020304" pitchFamily="18" charset="0"/>
                          <a:cs typeface="Times New Roman" panose="02020603050405020304" pitchFamily="18" charset="0"/>
                        </a:rPr>
                        <a:t>Glo-Ve</a:t>
                      </a:r>
                      <a:r>
                        <a:rPr lang="en-IN" sz="1200" dirty="0">
                          <a:latin typeface="Times New Roman" panose="02020603050405020304" pitchFamily="18" charset="0"/>
                          <a:cs typeface="Times New Roman" panose="02020603050405020304" pitchFamily="18" charset="0"/>
                        </a:rPr>
                        <a:t>, Word2Vec, Fast-Text and TF-IDF</a:t>
                      </a:r>
                    </a:p>
                  </a:txBody>
                  <a:tcPr/>
                </a:tc>
                <a:tc>
                  <a:txBody>
                    <a:bodyPr/>
                    <a:lstStyle/>
                    <a:p>
                      <a:pPr algn="l"/>
                      <a:r>
                        <a:rPr lang="en-IN" sz="1200" dirty="0">
                          <a:latin typeface="Times New Roman" panose="02020603050405020304" pitchFamily="18" charset="0"/>
                          <a:cs typeface="Times New Roman" panose="02020603050405020304" pitchFamily="18" charset="0"/>
                        </a:rPr>
                        <a:t>The improved algorithm considers the association between the</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immediate conditional feature, decision feature, and the other</a:t>
                      </a:r>
                    </a:p>
                    <a:p>
                      <a:pPr algn="l"/>
                      <a:r>
                        <a:rPr lang="en-IN" sz="1200" dirty="0">
                          <a:latin typeface="Times New Roman" panose="02020603050405020304" pitchFamily="18" charset="0"/>
                          <a:cs typeface="Times New Roman" panose="02020603050405020304" pitchFamily="18" charset="0"/>
                        </a:rPr>
                        <a:t>conditional features to compute the weighted information</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gain, then  find the best split feature.</a:t>
                      </a:r>
                    </a:p>
                  </a:txBody>
                  <a:tcPr/>
                </a:tc>
                <a:tc>
                  <a:txBody>
                    <a:bodyPr/>
                    <a:lstStyle/>
                    <a:p>
                      <a:pPr algn="l"/>
                      <a:r>
                        <a:rPr lang="en-IN" sz="1200" dirty="0">
                          <a:latin typeface="Times New Roman" panose="02020603050405020304" pitchFamily="18" charset="0"/>
                          <a:cs typeface="Times New Roman" panose="02020603050405020304" pitchFamily="18" charset="0"/>
                        </a:rPr>
                        <a:t>Cannot use traditional ID3 as it considers only the association between the current</a:t>
                      </a:r>
                    </a:p>
                    <a:p>
                      <a:pPr algn="l"/>
                      <a:r>
                        <a:rPr lang="en-IN" sz="1200" dirty="0">
                          <a:latin typeface="Times New Roman" panose="02020603050405020304" pitchFamily="18" charset="0"/>
                          <a:cs typeface="Times New Roman" panose="02020603050405020304" pitchFamily="18" charset="0"/>
                        </a:rPr>
                        <a:t>feature and decision feature to calculate the information gain.</a:t>
                      </a:r>
                    </a:p>
                  </a:txBody>
                  <a:tcPr/>
                </a:tc>
                <a:extLst>
                  <a:ext uri="{0D108BD9-81ED-4DB2-BD59-A6C34878D82A}">
                    <a16:rowId xmlns:a16="http://schemas.microsoft.com/office/drawing/2014/main" val="10001"/>
                  </a:ext>
                </a:extLst>
              </a:tr>
              <a:tr h="1369643">
                <a:tc>
                  <a:txBody>
                    <a:bodyPr/>
                    <a:lstStyle/>
                    <a:p>
                      <a:r>
                        <a:rPr lang="en-US" sz="1200" dirty="0">
                          <a:latin typeface="Times New Roman" panose="02020603050405020304" pitchFamily="18" charset="0"/>
                          <a:cs typeface="Times New Roman" panose="02020603050405020304" pitchFamily="18" charset="0"/>
                        </a:rPr>
                        <a:t>2</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IN" sz="1200" dirty="0">
                          <a:latin typeface="Times New Roman" panose="02020603050405020304" pitchFamily="18" charset="0"/>
                          <a:cs typeface="Times New Roman" panose="02020603050405020304" pitchFamily="18" charset="0"/>
                        </a:rPr>
                        <a:t>Sandeep Kumar</a:t>
                      </a:r>
                    </a:p>
                  </a:txBody>
                  <a:tcPr/>
                </a:tc>
                <a:tc>
                  <a:txBody>
                    <a:bodyPr/>
                    <a:lstStyle/>
                    <a:p>
                      <a:pPr algn="l"/>
                      <a:r>
                        <a:rPr lang="en-IN" sz="1200" dirty="0">
                          <a:latin typeface="Times New Roman" panose="02020603050405020304" pitchFamily="18" charset="0"/>
                          <a:cs typeface="Times New Roman" panose="02020603050405020304" pitchFamily="18" charset="0"/>
                        </a:rPr>
                        <a:t>Analysis and Predictions of Spread, Recovery, and Death Caused by</a:t>
                      </a:r>
                    </a:p>
                    <a:p>
                      <a:pPr algn="l"/>
                      <a:r>
                        <a:rPr lang="en-IN" sz="1200" dirty="0">
                          <a:latin typeface="Times New Roman" panose="02020603050405020304" pitchFamily="18" charset="0"/>
                          <a:cs typeface="Times New Roman" panose="02020603050405020304" pitchFamily="18" charset="0"/>
                        </a:rPr>
                        <a:t>COVID-19 in India </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Correlation coefficients and multiple linear regression, autocorrelation and auto-regression. </a:t>
                      </a:r>
                    </a:p>
                  </a:txBody>
                  <a:tcPr/>
                </a:tc>
                <a:tc>
                  <a:txBody>
                    <a:bodyPr/>
                    <a:lstStyle/>
                    <a:p>
                      <a:pPr algn="l"/>
                      <a:r>
                        <a:rPr lang="en-IN" sz="1200" dirty="0">
                          <a:latin typeface="Times New Roman" panose="02020603050405020304" pitchFamily="18" charset="0"/>
                          <a:cs typeface="Times New Roman" panose="02020603050405020304" pitchFamily="18" charset="0"/>
                        </a:rPr>
                        <a:t>It is observed that the model can use regression against</a:t>
                      </a:r>
                    </a:p>
                    <a:p>
                      <a:pPr algn="l"/>
                      <a:r>
                        <a:rPr lang="en-IN" sz="1200" dirty="0">
                          <a:latin typeface="Times New Roman" panose="02020603050405020304" pitchFamily="18" charset="0"/>
                          <a:cs typeface="Times New Roman" panose="02020603050405020304" pitchFamily="18" charset="0"/>
                        </a:rPr>
                        <a:t>itself and also able to use the autocorrelation plot to</a:t>
                      </a:r>
                    </a:p>
                    <a:p>
                      <a:pPr algn="l"/>
                      <a:r>
                        <a:rPr lang="en-IN" sz="1200" dirty="0">
                          <a:latin typeface="Times New Roman" panose="02020603050405020304" pitchFamily="18" charset="0"/>
                          <a:cs typeface="Times New Roman" panose="02020603050405020304" pitchFamily="18" charset="0"/>
                        </a:rPr>
                        <a:t>check the randomness within the data and to improve the accuracy of prediction.</a:t>
                      </a:r>
                    </a:p>
                  </a:txBody>
                  <a:tcPr/>
                </a:tc>
                <a:tc>
                  <a:txBody>
                    <a:bodyPr/>
                    <a:lstStyle/>
                    <a:p>
                      <a:pPr algn="l"/>
                      <a:r>
                        <a:rPr lang="en-IN" sz="1200" dirty="0">
                          <a:latin typeface="Times New Roman" panose="02020603050405020304" pitchFamily="18" charset="0"/>
                          <a:cs typeface="Times New Roman" panose="02020603050405020304" pitchFamily="18" charset="0"/>
                        </a:rPr>
                        <a:t>Decision tree learning technique is equally useful for regression and</a:t>
                      </a:r>
                    </a:p>
                    <a:p>
                      <a:pPr algn="l"/>
                      <a:r>
                        <a:rPr lang="en-IN" sz="1200" dirty="0">
                          <a:latin typeface="Times New Roman" panose="02020603050405020304" pitchFamily="18" charset="0"/>
                          <a:cs typeface="Times New Roman" panose="02020603050405020304" pitchFamily="18" charset="0"/>
                        </a:rPr>
                        <a:t>classification. This approach assigns the most feasible</a:t>
                      </a:r>
                    </a:p>
                    <a:p>
                      <a:pPr algn="l"/>
                      <a:r>
                        <a:rPr lang="en-IN" sz="1200" dirty="0">
                          <a:latin typeface="Times New Roman" panose="02020603050405020304" pitchFamily="18" charset="0"/>
                          <a:cs typeface="Times New Roman" panose="02020603050405020304" pitchFamily="18" charset="0"/>
                        </a:rPr>
                        <a:t>class for each record for classification.</a:t>
                      </a:r>
                    </a:p>
                  </a:txBody>
                  <a:tcPr/>
                </a:tc>
                <a:extLst>
                  <a:ext uri="{0D108BD9-81ED-4DB2-BD59-A6C34878D82A}">
                    <a16:rowId xmlns:a16="http://schemas.microsoft.com/office/drawing/2014/main" val="10002"/>
                  </a:ext>
                </a:extLst>
              </a:tr>
              <a:tr h="1917499">
                <a:tc>
                  <a:txBody>
                    <a:bodyPr/>
                    <a:lstStyle/>
                    <a:p>
                      <a:r>
                        <a:rPr lang="en-US" sz="1200" dirty="0">
                          <a:latin typeface="Times New Roman" panose="02020603050405020304" pitchFamily="18" charset="0"/>
                          <a:cs typeface="Times New Roman" panose="02020603050405020304" pitchFamily="18" charset="0"/>
                        </a:rPr>
                        <a:t>3</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IN" sz="1200" dirty="0">
                          <a:latin typeface="Times New Roman" panose="02020603050405020304" pitchFamily="18" charset="0"/>
                          <a:cs typeface="Times New Roman" panose="02020603050405020304" pitchFamily="18" charset="0"/>
                        </a:rPr>
                        <a:t>Vishan Kumar Gupta</a:t>
                      </a:r>
                    </a:p>
                  </a:txBody>
                  <a:tcPr/>
                </a:tc>
                <a:tc>
                  <a:txBody>
                    <a:bodyPr/>
                    <a:lstStyle/>
                    <a:p>
                      <a:pPr algn="l"/>
                      <a:r>
                        <a:rPr lang="en-IN" sz="1200" dirty="0">
                          <a:latin typeface="Times New Roman" panose="02020603050405020304" pitchFamily="18" charset="0"/>
                          <a:cs typeface="Times New Roman" panose="02020603050405020304" pitchFamily="18" charset="0"/>
                        </a:rPr>
                        <a:t>Prediction of covid-19 confirmed, death, cured in India using Random Forest Model </a:t>
                      </a:r>
                    </a:p>
                  </a:txBody>
                  <a:tcPr/>
                </a:tc>
                <a:tc>
                  <a:txBody>
                    <a:bodyPr/>
                    <a:lstStyle/>
                    <a:p>
                      <a:pPr algn="l"/>
                      <a:r>
                        <a:rPr lang="en-IN" sz="1200" dirty="0">
                          <a:latin typeface="Times New Roman" panose="02020603050405020304" pitchFamily="18" charset="0"/>
                          <a:cs typeface="Times New Roman" panose="02020603050405020304" pitchFamily="18" charset="0"/>
                        </a:rPr>
                        <a:t>Random forest, linear model, multi class classification, support vector machine,</a:t>
                      </a:r>
                    </a:p>
                    <a:p>
                      <a:pPr algn="l"/>
                      <a:r>
                        <a:rPr lang="en-IN" sz="1200" dirty="0">
                          <a:latin typeface="Times New Roman" panose="02020603050405020304" pitchFamily="18" charset="0"/>
                          <a:cs typeface="Times New Roman" panose="02020603050405020304" pitchFamily="18" charset="0"/>
                        </a:rPr>
                        <a:t>decision tree,  neural network and K-fold cross-validation</a:t>
                      </a:r>
                    </a:p>
                  </a:txBody>
                  <a:tcPr/>
                </a:tc>
                <a:tc>
                  <a:txBody>
                    <a:bodyPr/>
                    <a:lstStyle/>
                    <a:p>
                      <a:pPr algn="l"/>
                      <a:r>
                        <a:rPr lang="en-IN" sz="1200" dirty="0">
                          <a:latin typeface="Times New Roman" panose="02020603050405020304" pitchFamily="18" charset="0"/>
                          <a:cs typeface="Times New Roman" panose="02020603050405020304" pitchFamily="18" charset="0"/>
                        </a:rPr>
                        <a:t>It is found that the random forest method outperforms other machine learning methods. K-fold cross validation</a:t>
                      </a:r>
                    </a:p>
                    <a:p>
                      <a:pPr algn="l"/>
                      <a:r>
                        <a:rPr lang="en-IN" sz="1200" dirty="0">
                          <a:latin typeface="Times New Roman" panose="02020603050405020304" pitchFamily="18" charset="0"/>
                          <a:cs typeface="Times New Roman" panose="02020603050405020304" pitchFamily="18" charset="0"/>
                        </a:rPr>
                        <a:t>is used to measure the consistency of random</a:t>
                      </a:r>
                    </a:p>
                    <a:p>
                      <a:pPr algn="l"/>
                      <a:r>
                        <a:rPr lang="en-IN" sz="1200" dirty="0">
                          <a:latin typeface="Times New Roman" panose="02020603050405020304" pitchFamily="18" charset="0"/>
                          <a:cs typeface="Times New Roman" panose="02020603050405020304" pitchFamily="18" charset="0"/>
                        </a:rPr>
                        <a:t>forest model. </a:t>
                      </a:r>
                    </a:p>
                  </a:txBody>
                  <a:tcPr/>
                </a:tc>
                <a:tc>
                  <a:txBody>
                    <a:bodyPr/>
                    <a:lstStyle/>
                    <a:p>
                      <a:pPr algn="l"/>
                      <a:r>
                        <a:rPr lang="en-IN" sz="1200" dirty="0">
                          <a:latin typeface="Times New Roman" panose="02020603050405020304" pitchFamily="18" charset="0"/>
                          <a:cs typeface="Times New Roman" panose="02020603050405020304" pitchFamily="18" charset="0"/>
                        </a:rPr>
                        <a:t>30% data are tested using these all five</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models, the results from all the five models are collected</a:t>
                      </a:r>
                    </a:p>
                    <a:p>
                      <a:pPr algn="l"/>
                      <a:r>
                        <a:rPr lang="en-IN" sz="1200" dirty="0">
                          <a:latin typeface="Times New Roman" panose="02020603050405020304" pitchFamily="18" charset="0"/>
                          <a:cs typeface="Times New Roman" panose="02020603050405020304" pitchFamily="18" charset="0"/>
                        </a:rPr>
                        <a:t>and found that the random forest model outperformed. Machine learning methods</a:t>
                      </a:r>
                    </a:p>
                    <a:p>
                      <a:pPr algn="l"/>
                      <a:r>
                        <a:rPr lang="en-IN" sz="1200" dirty="0">
                          <a:latin typeface="Times New Roman" panose="02020603050405020304" pitchFamily="18" charset="0"/>
                          <a:cs typeface="Times New Roman" panose="02020603050405020304" pitchFamily="18" charset="0"/>
                        </a:rPr>
                        <a:t>do not embody any additional information from different</a:t>
                      </a:r>
                    </a:p>
                    <a:p>
                      <a:pPr algn="l"/>
                      <a:r>
                        <a:rPr lang="en-IN" sz="1200" dirty="0">
                          <a:latin typeface="Times New Roman" panose="02020603050405020304" pitchFamily="18" charset="0"/>
                          <a:cs typeface="Times New Roman" panose="02020603050405020304" pitchFamily="18" charset="0"/>
                        </a:rPr>
                        <a:t>Models.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55463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244128319"/>
              </p:ext>
            </p:extLst>
          </p:nvPr>
        </p:nvGraphicFramePr>
        <p:xfrm>
          <a:off x="874643" y="19880"/>
          <a:ext cx="10336696" cy="6225850"/>
        </p:xfrm>
        <a:graphic>
          <a:graphicData uri="http://schemas.openxmlformats.org/drawingml/2006/table">
            <a:tbl>
              <a:tblPr firstRow="1" bandRow="1">
                <a:tableStyleId>{5C22544A-7EE6-4342-B048-85BDC9FD1C3A}</a:tableStyleId>
              </a:tblPr>
              <a:tblGrid>
                <a:gridCol w="722006">
                  <a:extLst>
                    <a:ext uri="{9D8B030D-6E8A-4147-A177-3AD203B41FA5}">
                      <a16:colId xmlns:a16="http://schemas.microsoft.com/office/drawing/2014/main" val="20000"/>
                    </a:ext>
                  </a:extLst>
                </a:gridCol>
                <a:gridCol w="1314024">
                  <a:extLst>
                    <a:ext uri="{9D8B030D-6E8A-4147-A177-3AD203B41FA5}">
                      <a16:colId xmlns:a16="http://schemas.microsoft.com/office/drawing/2014/main" val="20001"/>
                    </a:ext>
                  </a:extLst>
                </a:gridCol>
                <a:gridCol w="2124862">
                  <a:extLst>
                    <a:ext uri="{9D8B030D-6E8A-4147-A177-3AD203B41FA5}">
                      <a16:colId xmlns:a16="http://schemas.microsoft.com/office/drawing/2014/main" val="20002"/>
                    </a:ext>
                  </a:extLst>
                </a:gridCol>
                <a:gridCol w="1329751">
                  <a:extLst>
                    <a:ext uri="{9D8B030D-6E8A-4147-A177-3AD203B41FA5}">
                      <a16:colId xmlns:a16="http://schemas.microsoft.com/office/drawing/2014/main" val="20003"/>
                    </a:ext>
                  </a:extLst>
                </a:gridCol>
                <a:gridCol w="2740207">
                  <a:extLst>
                    <a:ext uri="{9D8B030D-6E8A-4147-A177-3AD203B41FA5}">
                      <a16:colId xmlns:a16="http://schemas.microsoft.com/office/drawing/2014/main" val="20004"/>
                    </a:ext>
                  </a:extLst>
                </a:gridCol>
                <a:gridCol w="2105846">
                  <a:extLst>
                    <a:ext uri="{9D8B030D-6E8A-4147-A177-3AD203B41FA5}">
                      <a16:colId xmlns:a16="http://schemas.microsoft.com/office/drawing/2014/main" val="20005"/>
                    </a:ext>
                  </a:extLst>
                </a:gridCol>
              </a:tblGrid>
              <a:tr h="361804">
                <a:tc>
                  <a:txBody>
                    <a:bodyPr/>
                    <a:lstStyle/>
                    <a:p>
                      <a:r>
                        <a:rPr lang="en-US" dirty="0" err="1"/>
                        <a:t>Sl</a:t>
                      </a:r>
                      <a:r>
                        <a:rPr lang="en-US" dirty="0"/>
                        <a:t> No</a:t>
                      </a:r>
                      <a:endParaRPr lang="en-IN" dirty="0"/>
                    </a:p>
                  </a:txBody>
                  <a:tcPr/>
                </a:tc>
                <a:tc>
                  <a:txBody>
                    <a:bodyPr/>
                    <a:lstStyle/>
                    <a:p>
                      <a:r>
                        <a:rPr lang="en-US" dirty="0"/>
                        <a:t>Author</a:t>
                      </a:r>
                      <a:endParaRPr lang="en-IN" dirty="0"/>
                    </a:p>
                  </a:txBody>
                  <a:tcPr/>
                </a:tc>
                <a:tc>
                  <a:txBody>
                    <a:bodyPr/>
                    <a:lstStyle/>
                    <a:p>
                      <a:r>
                        <a:rPr lang="en-US" dirty="0"/>
                        <a:t>Paper Title</a:t>
                      </a:r>
                      <a:endParaRPr lang="en-IN" dirty="0"/>
                    </a:p>
                  </a:txBody>
                  <a:tcPr/>
                </a:tc>
                <a:tc>
                  <a:txBody>
                    <a:bodyPr/>
                    <a:lstStyle/>
                    <a:p>
                      <a:r>
                        <a:rPr lang="en-US" dirty="0"/>
                        <a:t>Technique</a:t>
                      </a:r>
                      <a:endParaRPr lang="en-IN" dirty="0"/>
                    </a:p>
                  </a:txBody>
                  <a:tcPr/>
                </a:tc>
                <a:tc>
                  <a:txBody>
                    <a:bodyPr/>
                    <a:lstStyle/>
                    <a:p>
                      <a:r>
                        <a:rPr lang="en-US" dirty="0"/>
                        <a:t>Advantages</a:t>
                      </a:r>
                      <a:endParaRPr lang="en-IN" dirty="0"/>
                    </a:p>
                  </a:txBody>
                  <a:tcPr/>
                </a:tc>
                <a:tc>
                  <a:txBody>
                    <a:bodyPr/>
                    <a:lstStyle/>
                    <a:p>
                      <a:r>
                        <a:rPr lang="en-US" dirty="0"/>
                        <a:t>Disadvantages</a:t>
                      </a:r>
                      <a:endParaRPr lang="en-IN" dirty="0"/>
                    </a:p>
                  </a:txBody>
                  <a:tcPr/>
                </a:tc>
                <a:extLst>
                  <a:ext uri="{0D108BD9-81ED-4DB2-BD59-A6C34878D82A}">
                    <a16:rowId xmlns:a16="http://schemas.microsoft.com/office/drawing/2014/main" val="10000"/>
                  </a:ext>
                </a:extLst>
              </a:tr>
              <a:tr h="1797094">
                <a:tc>
                  <a:txBody>
                    <a:bodyPr/>
                    <a:lstStyle/>
                    <a:p>
                      <a:r>
                        <a:rPr lang="en-US" sz="1200" dirty="0">
                          <a:latin typeface="Times New Roman" panose="02020603050405020304" pitchFamily="18" charset="0"/>
                          <a:cs typeface="Times New Roman" panose="02020603050405020304" pitchFamily="18" charset="0"/>
                        </a:rPr>
                        <a:t>4</a:t>
                      </a:r>
                      <a:endParaRPr lang="en-IN"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err="1">
                          <a:latin typeface="Times New Roman" panose="02020603050405020304" pitchFamily="18" charset="0"/>
                          <a:cs typeface="Times New Roman" panose="02020603050405020304" pitchFamily="18" charset="0"/>
                        </a:rPr>
                        <a:t>Nugroho</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Setio</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Wibowo</a:t>
                      </a:r>
                      <a:endParaRPr lang="en-IN"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a:latin typeface="Times New Roman" panose="02020603050405020304" pitchFamily="18" charset="0"/>
                          <a:cs typeface="Times New Roman" panose="02020603050405020304" pitchFamily="18" charset="0"/>
                        </a:rPr>
                        <a:t>Twitter Data Analysis Using Machine Learning To</a:t>
                      </a:r>
                    </a:p>
                    <a:p>
                      <a:pPr algn="l"/>
                      <a:r>
                        <a:rPr lang="en-IN" sz="1200" dirty="0">
                          <a:latin typeface="Times New Roman" panose="02020603050405020304" pitchFamily="18" charset="0"/>
                          <a:cs typeface="Times New Roman" panose="02020603050405020304" pitchFamily="18" charset="0"/>
                        </a:rPr>
                        <a:t>Evaluate Community Compliance in Preventing the</a:t>
                      </a:r>
                    </a:p>
                    <a:p>
                      <a:pPr algn="l"/>
                      <a:r>
                        <a:rPr lang="en-IN" sz="1200" dirty="0">
                          <a:latin typeface="Times New Roman" panose="02020603050405020304" pitchFamily="18" charset="0"/>
                          <a:cs typeface="Times New Roman" panose="02020603050405020304" pitchFamily="18" charset="0"/>
                        </a:rPr>
                        <a:t>Spread of Covid-19</a:t>
                      </a:r>
                    </a:p>
                  </a:txBody>
                  <a:tcPr/>
                </a:tc>
                <a:tc>
                  <a:txBody>
                    <a:bodyPr/>
                    <a:lstStyle/>
                    <a:p>
                      <a:pPr algn="l"/>
                      <a:r>
                        <a:rPr lang="en-IN" sz="1200" dirty="0">
                          <a:latin typeface="Times New Roman" panose="02020603050405020304" pitchFamily="18" charset="0"/>
                          <a:cs typeface="Times New Roman" panose="02020603050405020304" pitchFamily="18" charset="0"/>
                        </a:rPr>
                        <a:t>Logistic</a:t>
                      </a:r>
                    </a:p>
                    <a:p>
                      <a:pPr algn="l"/>
                      <a:r>
                        <a:rPr lang="en-IN" sz="1200" dirty="0">
                          <a:latin typeface="Times New Roman" panose="02020603050405020304" pitchFamily="18" charset="0"/>
                          <a:cs typeface="Times New Roman" panose="02020603050405020304" pitchFamily="18" charset="0"/>
                        </a:rPr>
                        <a:t>regression and random forest, TF-IDF, decision tree</a:t>
                      </a:r>
                    </a:p>
                  </a:txBody>
                  <a:tcPr/>
                </a:tc>
                <a:tc>
                  <a:txBody>
                    <a:bodyPr/>
                    <a:lstStyle/>
                    <a:p>
                      <a:pPr algn="l"/>
                      <a:r>
                        <a:rPr lang="en-IN" sz="1200" dirty="0">
                          <a:latin typeface="Times New Roman" panose="02020603050405020304" pitchFamily="18" charset="0"/>
                          <a:cs typeface="Times New Roman" panose="02020603050405020304" pitchFamily="18" charset="0"/>
                        </a:rPr>
                        <a:t>The Logistic Regression and Random Forest</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algorithms have better accuracy of 93% compared to the</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Decision Tree of 89% and are used as a model for assembling</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between Logistic Regression and Random Forest</a:t>
                      </a:r>
                    </a:p>
                  </a:txBody>
                  <a:tcPr/>
                </a:tc>
                <a:tc>
                  <a:txBody>
                    <a:bodyPr/>
                    <a:lstStyle/>
                    <a:p>
                      <a:pPr algn="l"/>
                      <a:r>
                        <a:rPr lang="en-IN" sz="1200" dirty="0">
                          <a:latin typeface="Times New Roman" panose="02020603050405020304" pitchFamily="18" charset="0"/>
                          <a:cs typeface="Times New Roman" panose="02020603050405020304" pitchFamily="18" charset="0"/>
                        </a:rPr>
                        <a:t>No mention</a:t>
                      </a:r>
                    </a:p>
                  </a:txBody>
                  <a:tcPr/>
                </a:tc>
                <a:extLst>
                  <a:ext uri="{0D108BD9-81ED-4DB2-BD59-A6C34878D82A}">
                    <a16:rowId xmlns:a16="http://schemas.microsoft.com/office/drawing/2014/main" val="10001"/>
                  </a:ext>
                </a:extLst>
              </a:tr>
              <a:tr h="1797094">
                <a:tc>
                  <a:txBody>
                    <a:bodyPr/>
                    <a:lstStyle/>
                    <a:p>
                      <a:r>
                        <a:rPr lang="en-US" sz="1200" dirty="0">
                          <a:latin typeface="Times New Roman" panose="02020603050405020304" pitchFamily="18" charset="0"/>
                          <a:cs typeface="Times New Roman" panose="02020603050405020304" pitchFamily="18" charset="0"/>
                        </a:rPr>
                        <a:t>5</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IN" sz="1200" dirty="0" err="1">
                          <a:latin typeface="Times New Roman" panose="02020603050405020304" pitchFamily="18" charset="0"/>
                          <a:cs typeface="Times New Roman" panose="02020603050405020304" pitchFamily="18" charset="0"/>
                        </a:rPr>
                        <a:t>Prasoon</a:t>
                      </a:r>
                      <a:r>
                        <a:rPr lang="en-IN" sz="1200" dirty="0">
                          <a:latin typeface="Times New Roman" panose="02020603050405020304" pitchFamily="18" charset="0"/>
                          <a:cs typeface="Times New Roman" panose="02020603050405020304" pitchFamily="18" charset="0"/>
                        </a:rPr>
                        <a:t> Gupta</a:t>
                      </a:r>
                    </a:p>
                  </a:txBody>
                  <a:tcPr/>
                </a:tc>
                <a:tc>
                  <a:txBody>
                    <a:bodyPr/>
                    <a:lstStyle/>
                    <a:p>
                      <a:pPr algn="l"/>
                      <a:r>
                        <a:rPr lang="en-IN" sz="1200" dirty="0">
                          <a:latin typeface="Times New Roman" panose="02020603050405020304" pitchFamily="18" charset="0"/>
                          <a:cs typeface="Times New Roman" panose="02020603050405020304" pitchFamily="18" charset="0"/>
                        </a:rPr>
                        <a:t>Sentiment Analysis of Lockdown in India During</a:t>
                      </a:r>
                    </a:p>
                    <a:p>
                      <a:pPr algn="l"/>
                      <a:r>
                        <a:rPr lang="en-IN" sz="1200" dirty="0">
                          <a:latin typeface="Times New Roman" panose="02020603050405020304" pitchFamily="18" charset="0"/>
                          <a:cs typeface="Times New Roman" panose="02020603050405020304" pitchFamily="18" charset="0"/>
                        </a:rPr>
                        <a:t>COVID-19: A Case Study on Twitter</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Linear SVC</a:t>
                      </a:r>
                    </a:p>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classifier and unigram</a:t>
                      </a:r>
                    </a:p>
                  </a:txBody>
                  <a:tcPr/>
                </a:tc>
                <a:tc>
                  <a:txBody>
                    <a:bodyPr/>
                    <a:lstStyle/>
                    <a:p>
                      <a:pPr algn="l"/>
                      <a:r>
                        <a:rPr lang="en-IN" sz="1200" dirty="0">
                          <a:latin typeface="Times New Roman" panose="02020603050405020304" pitchFamily="18" charset="0"/>
                          <a:cs typeface="Times New Roman" panose="02020603050405020304" pitchFamily="18" charset="0"/>
                        </a:rPr>
                        <a:t>The combination gives us an accuracy</a:t>
                      </a:r>
                    </a:p>
                    <a:p>
                      <a:pPr algn="l"/>
                      <a:r>
                        <a:rPr lang="en-IN" sz="1200" dirty="0">
                          <a:latin typeface="Times New Roman" panose="02020603050405020304" pitchFamily="18" charset="0"/>
                          <a:cs typeface="Times New Roman" panose="02020603050405020304" pitchFamily="18" charset="0"/>
                        </a:rPr>
                        <a:t>of 84.4% consolidated the</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performance by calculating precision, recall, F1-Score, and</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tenfold cross-validation for all the combinations, and we got</a:t>
                      </a:r>
                    </a:p>
                    <a:p>
                      <a:pPr algn="l"/>
                      <a:r>
                        <a:rPr lang="en-IN" sz="1200" dirty="0">
                          <a:latin typeface="Times New Roman" panose="02020603050405020304" pitchFamily="18" charset="0"/>
                          <a:cs typeface="Times New Roman" panose="02020603050405020304" pitchFamily="18" charset="0"/>
                        </a:rPr>
                        <a:t>the best results with Linear SVC and unigram</a:t>
                      </a:r>
                    </a:p>
                  </a:txBody>
                  <a:tcPr/>
                </a:tc>
                <a:tc>
                  <a:txBody>
                    <a:bodyPr/>
                    <a:lstStyle/>
                    <a:p>
                      <a:pPr algn="l"/>
                      <a:r>
                        <a:rPr lang="en-IN" sz="1200" dirty="0">
                          <a:latin typeface="Times New Roman" panose="02020603050405020304" pitchFamily="18" charset="0"/>
                          <a:cs typeface="Times New Roman" panose="02020603050405020304" pitchFamily="18" charset="0"/>
                        </a:rPr>
                        <a:t>The major limitations of this work</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are that we have taken the tweets of a specific phase during</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the lockdown, but with the change of phases, the surrounding</a:t>
                      </a:r>
                      <a:r>
                        <a:rPr lang="en-IN" sz="1200" baseline="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conditions might get changed thus,</a:t>
                      </a:r>
                    </a:p>
                    <a:p>
                      <a:pPr algn="l"/>
                      <a:r>
                        <a:rPr lang="en-IN" sz="1200" dirty="0">
                          <a:latin typeface="Times New Roman" panose="02020603050405020304" pitchFamily="18" charset="0"/>
                          <a:cs typeface="Times New Roman" panose="02020603050405020304" pitchFamily="18" charset="0"/>
                        </a:rPr>
                        <a:t> the sentiments of the</a:t>
                      </a:r>
                    </a:p>
                    <a:p>
                      <a:pPr algn="l"/>
                      <a:r>
                        <a:rPr lang="en-IN" sz="1200" dirty="0">
                          <a:latin typeface="Times New Roman" panose="02020603050405020304" pitchFamily="18" charset="0"/>
                          <a:cs typeface="Times New Roman" panose="02020603050405020304" pitchFamily="18" charset="0"/>
                        </a:rPr>
                        <a:t>public could also be changed.</a:t>
                      </a:r>
                    </a:p>
                  </a:txBody>
                  <a:tcPr/>
                </a:tc>
                <a:extLst>
                  <a:ext uri="{0D108BD9-81ED-4DB2-BD59-A6C34878D82A}">
                    <a16:rowId xmlns:a16="http://schemas.microsoft.com/office/drawing/2014/main" val="10002"/>
                  </a:ext>
                </a:extLst>
              </a:tr>
              <a:tr h="2265902">
                <a:tc>
                  <a:txBody>
                    <a:bodyPr/>
                    <a:lstStyle/>
                    <a:p>
                      <a:r>
                        <a:rPr lang="en-US" sz="1200" dirty="0">
                          <a:latin typeface="Times New Roman" panose="02020603050405020304" pitchFamily="18" charset="0"/>
                          <a:cs typeface="Times New Roman" panose="02020603050405020304" pitchFamily="18" charset="0"/>
                        </a:rPr>
                        <a:t>6</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IN" sz="1200" dirty="0" err="1">
                          <a:latin typeface="Times New Roman" panose="02020603050405020304" pitchFamily="18" charset="0"/>
                          <a:cs typeface="Times New Roman" panose="02020603050405020304" pitchFamily="18" charset="0"/>
                        </a:rPr>
                        <a:t>Habiba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Drias</a:t>
                      </a:r>
                      <a:endParaRPr lang="en-IN"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a:latin typeface="Times New Roman" panose="02020603050405020304" pitchFamily="18" charset="0"/>
                          <a:cs typeface="Times New Roman" panose="02020603050405020304" pitchFamily="18" charset="0"/>
                        </a:rPr>
                        <a:t>Mining Twitter Data  on COVID-19 for Sentiment analysis and frequent patterns Discovery</a:t>
                      </a:r>
                    </a:p>
                  </a:txBody>
                  <a:tcPr/>
                </a:tc>
                <a:tc>
                  <a:txBody>
                    <a:bodyPr/>
                    <a:lstStyle/>
                    <a:p>
                      <a:pPr algn="l"/>
                      <a:r>
                        <a:rPr lang="en-IN" sz="1200" dirty="0">
                          <a:latin typeface="Times New Roman" panose="02020603050405020304" pitchFamily="18" charset="0"/>
                          <a:cs typeface="Times New Roman" panose="02020603050405020304" pitchFamily="18" charset="0"/>
                        </a:rPr>
                        <a:t>FP-Growth algorithm, lexicon-based approach</a:t>
                      </a:r>
                    </a:p>
                  </a:txBody>
                  <a:tcPr/>
                </a:tc>
                <a:tc>
                  <a:txBody>
                    <a:bodyPr/>
                    <a:lstStyle/>
                    <a:p>
                      <a:pPr algn="l"/>
                      <a:r>
                        <a:rPr lang="en-IN" sz="1200" dirty="0">
                          <a:latin typeface="Times New Roman" panose="02020603050405020304" pitchFamily="18" charset="0"/>
                          <a:cs typeface="Times New Roman" panose="02020603050405020304" pitchFamily="18" charset="0"/>
                        </a:rPr>
                        <a:t>The construction of the FP-tree considers only the f-list words and is consequently a data structure reduced to only relevant information. It starts with an empty node, then it creates nodes taken sequentially from the f-list and linking them if they belong to the same tweet while scanning the collection of tweets and incrementing their frequency</a:t>
                      </a:r>
                    </a:p>
                  </a:txBody>
                  <a:tcPr/>
                </a:tc>
                <a:tc>
                  <a:txBody>
                    <a:bodyPr/>
                    <a:lstStyle/>
                    <a:p>
                      <a:pPr algn="l"/>
                      <a:r>
                        <a:rPr lang="en-IN" sz="1200" dirty="0">
                          <a:latin typeface="Times New Roman" panose="02020603050405020304" pitchFamily="18" charset="0"/>
                          <a:cs typeface="Times New Roman" panose="02020603050405020304" pitchFamily="18" charset="0"/>
                        </a:rPr>
                        <a:t>No Mention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66743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3D05F-62BD-4830-94E3-2AB430162996}"/>
              </a:ext>
            </a:extLst>
          </p:cNvPr>
          <p:cNvSpPr>
            <a:spLocks noGrp="1"/>
          </p:cNvSpPr>
          <p:nvPr>
            <p:ph type="title"/>
          </p:nvPr>
        </p:nvSpPr>
        <p:spPr/>
        <p:txBody>
          <a:bodyPr>
            <a:normAutofit/>
          </a:bodyPr>
          <a:lstStyle/>
          <a:p>
            <a:r>
              <a:rPr lang="en-IN" sz="1800" b="1" dirty="0">
                <a:latin typeface="Times New Roman" panose="02020603050405020304" pitchFamily="18" charset="0"/>
                <a:cs typeface="Times New Roman" panose="02020603050405020304" pitchFamily="18" charset="0"/>
              </a:rPr>
              <a:t>Existing system</a:t>
            </a:r>
            <a:endParaRPr lang="en-IN" sz="1800" b="1" dirty="0"/>
          </a:p>
        </p:txBody>
      </p:sp>
      <p:sp>
        <p:nvSpPr>
          <p:cNvPr id="3" name="Content Placeholder 2">
            <a:extLst>
              <a:ext uri="{FF2B5EF4-FFF2-40B4-BE49-F238E27FC236}">
                <a16:creationId xmlns:a16="http://schemas.microsoft.com/office/drawing/2014/main" id="{9DAEA48C-E5C3-47F3-B404-57F5ABD72155}"/>
              </a:ext>
            </a:extLst>
          </p:cNvPr>
          <p:cNvSpPr>
            <a:spLocks noGrp="1"/>
          </p:cNvSpPr>
          <p:nvPr>
            <p:ph idx="1"/>
          </p:nvPr>
        </p:nvSpPr>
        <p:spPr>
          <a:xfrm>
            <a:off x="1097280" y="2554356"/>
            <a:ext cx="10058400" cy="3314737"/>
          </a:xfrm>
        </p:spPr>
        <p:txBody>
          <a:bodyPr/>
          <a:lstStyle/>
          <a:p>
            <a:pPr algn="just">
              <a:buFont typeface="Arial" panose="020B0604020202020204" pitchFamily="34" charset="0"/>
              <a:buChar char="•"/>
            </a:pPr>
            <a:r>
              <a:rPr lang="en-US" sz="1400" b="0" i="0" u="none" strike="noStrike" baseline="0" dirty="0">
                <a:latin typeface="Times New Roman" panose="02020603050405020304" pitchFamily="18" charset="0"/>
                <a:cs typeface="Times New Roman" panose="02020603050405020304" pitchFamily="18" charset="0"/>
              </a:rPr>
              <a:t>This work is implemented in Spark</a:t>
            </a:r>
            <a:r>
              <a:rPr lang="en-US" sz="1400" b="0" i="0" u="none" strike="noStrike" dirty="0">
                <a:latin typeface="Times New Roman" panose="02020603050405020304" pitchFamily="18" charset="0"/>
                <a:cs typeface="Times New Roman" panose="02020603050405020304" pitchFamily="18" charset="0"/>
              </a:rPr>
              <a:t> environment using python language</a:t>
            </a:r>
            <a:r>
              <a:rPr lang="en-US" sz="1400" b="0" i="0" u="none" strike="noStrike" baseline="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IN" sz="1400" b="0" i="0" u="none" strike="noStrike" baseline="0" dirty="0">
                <a:latin typeface="Times New Roman" panose="02020603050405020304" pitchFamily="18" charset="0"/>
                <a:cs typeface="Times New Roman" panose="02020603050405020304" pitchFamily="18" charset="0"/>
              </a:rPr>
              <a:t>Its primary </a:t>
            </a:r>
            <a:r>
              <a:rPr lang="en-US" sz="1400" b="0" i="0" u="none" strike="noStrike" baseline="0" dirty="0">
                <a:latin typeface="Times New Roman" panose="02020603050405020304" pitchFamily="18" charset="0"/>
                <a:cs typeface="Times New Roman" panose="02020603050405020304" pitchFamily="18" charset="0"/>
              </a:rPr>
              <a:t>goal is to enhance the performance of a well-known ID3.</a:t>
            </a:r>
            <a:endParaRPr lang="en-IN" sz="1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41152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730" y="48768"/>
            <a:ext cx="9841867" cy="501738"/>
          </a:xfrm>
        </p:spPr>
        <p:txBody>
          <a:bodyPr>
            <a:normAutofit/>
          </a:bodyPr>
          <a:lstStyle/>
          <a:p>
            <a:r>
              <a:rPr lang="en-US" sz="1800" b="1" dirty="0">
                <a:latin typeface="Times New Roman" panose="02020603050405020304" pitchFamily="18" charset="0"/>
                <a:cs typeface="Times New Roman" panose="02020603050405020304" pitchFamily="18" charset="0"/>
              </a:rPr>
              <a:t>SYSTEM DESIGN</a:t>
            </a:r>
            <a:endParaRPr lang="en-IN" sz="1800" b="1" dirty="0">
              <a:latin typeface="Times New Roman" panose="02020603050405020304" pitchFamily="18" charset="0"/>
              <a:cs typeface="Times New Roman" panose="02020603050405020304" pitchFamily="18" charset="0"/>
            </a:endParaRPr>
          </a:p>
        </p:txBody>
      </p:sp>
      <p:sp>
        <p:nvSpPr>
          <p:cNvPr id="3075" name="AutoShape 3"/>
          <p:cNvSpPr>
            <a:spLocks noChangeAspect="1" noChangeArrowheads="1" noTextEdit="1"/>
          </p:cNvSpPr>
          <p:nvPr/>
        </p:nvSpPr>
        <p:spPr bwMode="auto">
          <a:xfrm>
            <a:off x="2505075" y="718457"/>
            <a:ext cx="7221538" cy="56029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pic>
        <p:nvPicPr>
          <p:cNvPr id="3078" name="Picture 6"/>
          <p:cNvPicPr>
            <a:picLocks noChangeAspect="1" noChangeArrowheads="1"/>
          </p:cNvPicPr>
          <p:nvPr/>
        </p:nvPicPr>
        <p:blipFill>
          <a:blip r:embed="rId2"/>
          <a:srcRect/>
          <a:stretch>
            <a:fillRect/>
          </a:stretch>
        </p:blipFill>
        <p:spPr bwMode="auto">
          <a:xfrm>
            <a:off x="2511288" y="1132114"/>
            <a:ext cx="7414589" cy="5242181"/>
          </a:xfrm>
          <a:prstGeom prst="rect">
            <a:avLst/>
          </a:prstGeom>
          <a:noFill/>
          <a:ln w="9525">
            <a:noFill/>
            <a:miter lim="800000"/>
            <a:headEnd/>
            <a:tailEnd/>
          </a:ln>
          <a:effectLst/>
        </p:spPr>
      </p:pic>
    </p:spTree>
    <p:extLst>
      <p:ext uri="{BB962C8B-B14F-4D97-AF65-F5344CB8AC3E}">
        <p14:creationId xmlns:p14="http://schemas.microsoft.com/office/powerpoint/2010/main" val="38152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1417" y="1828800"/>
            <a:ext cx="10609963" cy="3293706"/>
          </a:xfrm>
        </p:spPr>
        <p:txBody>
          <a:bodyPr>
            <a:normAutofit/>
          </a:bodyPr>
          <a:lstStyle/>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Data preprocessing - Normalize semantic data , eliminate unwanted information and  clarify vocabulary employed to analyze emotions from tweets.</a:t>
            </a:r>
            <a:endParaRPr lang="en-IN"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Feature Extraction – Turns text based input data into set of numerical features. The effectiveness of classifier depends on it (example : N-Grams , Bag of Words )</a:t>
            </a:r>
            <a:endParaRPr lang="en-IN"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Feature selection – Eliminates irrelevant features </a:t>
            </a:r>
            <a:endParaRPr lang="en-IN"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proposed model uses EID3 algorithm to classify Covid-19 tweets into positive &amp; negative polarity and then the positive tweets are used to get information to create awareness about the spread of Covid-19.</a:t>
            </a:r>
            <a:endParaRPr lang="en-IN" sz="1400" dirty="0">
              <a:latin typeface="Times New Roman" panose="02020603050405020304" pitchFamily="18"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122FF1D4-E041-4348-9FA6-A3A8C16A77E3}"/>
              </a:ext>
            </a:extLst>
          </p:cNvPr>
          <p:cNvSpPr txBox="1"/>
          <p:nvPr/>
        </p:nvSpPr>
        <p:spPr>
          <a:xfrm>
            <a:off x="1011306" y="888760"/>
            <a:ext cx="6097656"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SYSTEM DESIGN</a:t>
            </a:r>
            <a:endParaRPr lang="en-IN" b="1" dirty="0"/>
          </a:p>
        </p:txBody>
      </p:sp>
    </p:spTree>
    <p:extLst>
      <p:ext uri="{BB962C8B-B14F-4D97-AF65-F5344CB8AC3E}">
        <p14:creationId xmlns:p14="http://schemas.microsoft.com/office/powerpoint/2010/main" val="554532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b="1" dirty="0">
                <a:solidFill>
                  <a:schemeClr val="tx1"/>
                </a:solidFill>
                <a:latin typeface="Times New Roman" pitchFamily="18" charset="0"/>
                <a:cs typeface="Times New Roman" pitchFamily="18" charset="0"/>
              </a:rPr>
              <a:t>IMPLEMENTATION</a:t>
            </a:r>
            <a:br>
              <a:rPr lang="en-US" sz="1800" b="1" dirty="0">
                <a:solidFill>
                  <a:schemeClr val="tx1"/>
                </a:solidFill>
                <a:latin typeface="Times New Roman" pitchFamily="18" charset="0"/>
                <a:cs typeface="Times New Roman" pitchFamily="18" charset="0"/>
              </a:rPr>
            </a:br>
            <a:br>
              <a:rPr lang="en-US" sz="1800" b="1" dirty="0">
                <a:solidFill>
                  <a:schemeClr val="tx1"/>
                </a:solidFill>
                <a:latin typeface="Times New Roman" pitchFamily="18" charset="0"/>
                <a:cs typeface="Times New Roman" pitchFamily="18" charset="0"/>
              </a:rPr>
            </a:br>
            <a:r>
              <a:rPr lang="en-US" sz="1800" dirty="0">
                <a:solidFill>
                  <a:schemeClr val="tx1"/>
                </a:solidFill>
                <a:latin typeface="Times New Roman" pitchFamily="18" charset="0"/>
                <a:cs typeface="Times New Roman" pitchFamily="18" charset="0"/>
              </a:rPr>
              <a:t>IMPORT DATASETS</a:t>
            </a:r>
            <a:endParaRPr lang="en-US" sz="1800" dirty="0"/>
          </a:p>
        </p:txBody>
      </p:sp>
      <p:pic>
        <p:nvPicPr>
          <p:cNvPr id="1026" name="Picture 2" descr="C:\Users\library\Desktop\Rahul MG\project images\WhatsApp Image 2022-06-23 at 7.46.21 AM.jpeg"/>
          <p:cNvPicPr>
            <a:picLocks noGrp="1" noChangeAspect="1" noChangeArrowheads="1"/>
          </p:cNvPicPr>
          <p:nvPr>
            <p:ph idx="1"/>
          </p:nvPr>
        </p:nvPicPr>
        <p:blipFill>
          <a:blip r:embed="rId2"/>
          <a:srcRect/>
          <a:stretch>
            <a:fillRect/>
          </a:stretch>
        </p:blipFill>
        <p:spPr bwMode="auto">
          <a:xfrm>
            <a:off x="993912" y="2796209"/>
            <a:ext cx="10336697" cy="3299791"/>
          </a:xfrm>
          <a:prstGeom prst="rect">
            <a:avLst/>
          </a:prstGeom>
          <a:noFill/>
        </p:spPr>
      </p:pic>
      <p:sp>
        <p:nvSpPr>
          <p:cNvPr id="5" name="Rectangle 4"/>
          <p:cNvSpPr/>
          <p:nvPr/>
        </p:nvSpPr>
        <p:spPr>
          <a:xfrm>
            <a:off x="4598504" y="5936974"/>
            <a:ext cx="1656522" cy="369332"/>
          </a:xfrm>
          <a:prstGeom prst="rect">
            <a:avLst/>
          </a:prstGeom>
        </p:spPr>
        <p:txBody>
          <a:bodyPr wrap="square">
            <a:spAutoFit/>
          </a:bodyPr>
          <a:lstStyle/>
          <a:p>
            <a:r>
              <a:rPr lang="en-US" dirty="0">
                <a:latin typeface="Times New Roman" pitchFamily="18" charset="0"/>
                <a:cs typeface="Times New Roman" pitchFamily="18" charset="0"/>
              </a:rPr>
              <a:t>Screenshot 1</a:t>
            </a:r>
            <a:endParaRPr lang="en-US" dirty="0"/>
          </a:p>
        </p:txBody>
      </p:sp>
      <p:sp>
        <p:nvSpPr>
          <p:cNvPr id="6" name="Rectangle 5"/>
          <p:cNvSpPr/>
          <p:nvPr/>
        </p:nvSpPr>
        <p:spPr>
          <a:xfrm>
            <a:off x="1152939" y="1868557"/>
            <a:ext cx="9925878" cy="369332"/>
          </a:xfrm>
          <a:prstGeom prst="rect">
            <a:avLst/>
          </a:prstGeom>
        </p:spPr>
        <p:txBody>
          <a:bodyPr wrap="square">
            <a:spAutoFit/>
          </a:bodyPr>
          <a:lstStyle/>
          <a:p>
            <a:pPr algn="just"/>
            <a:r>
              <a:rPr lang="en-US" dirty="0"/>
              <a:t>The total number of tweets in this dataset are 68045. The datasets is collected from GitHub website.</a:t>
            </a:r>
            <a:endParaRPr lang="en-US"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dirty="0">
                <a:solidFill>
                  <a:schemeClr val="tx1"/>
                </a:solidFill>
                <a:latin typeface="Times New Roman" pitchFamily="18" charset="0"/>
                <a:cs typeface="Times New Roman" pitchFamily="18" charset="0"/>
              </a:rPr>
              <a:t>DATA  ANALYSIS</a:t>
            </a:r>
            <a:endParaRPr lang="en-US" sz="1800" dirty="0"/>
          </a:p>
        </p:txBody>
      </p:sp>
      <p:pic>
        <p:nvPicPr>
          <p:cNvPr id="2050" name="Picture 2" descr="C:\Users\library\Desktop\Rahul MG\project images\image 3.jpeg"/>
          <p:cNvPicPr>
            <a:picLocks noGrp="1" noChangeAspect="1" noChangeArrowheads="1"/>
          </p:cNvPicPr>
          <p:nvPr>
            <p:ph idx="1"/>
          </p:nvPr>
        </p:nvPicPr>
        <p:blipFill>
          <a:blip r:embed="rId2"/>
          <a:srcRect/>
          <a:stretch>
            <a:fillRect/>
          </a:stretch>
        </p:blipFill>
        <p:spPr bwMode="auto">
          <a:xfrm>
            <a:off x="1113182" y="2531165"/>
            <a:ext cx="10164417" cy="3337823"/>
          </a:xfrm>
          <a:prstGeom prst="rect">
            <a:avLst/>
          </a:prstGeom>
          <a:noFill/>
        </p:spPr>
      </p:pic>
      <p:sp>
        <p:nvSpPr>
          <p:cNvPr id="5" name="Rectangle 4"/>
          <p:cNvSpPr/>
          <p:nvPr/>
        </p:nvSpPr>
        <p:spPr>
          <a:xfrm>
            <a:off x="1166191" y="1974574"/>
            <a:ext cx="9660835" cy="523220"/>
          </a:xfrm>
          <a:prstGeom prst="rect">
            <a:avLst/>
          </a:prstGeom>
        </p:spPr>
        <p:txBody>
          <a:bodyPr wrap="square">
            <a:spAutoFit/>
          </a:bodyPr>
          <a:lstStyle/>
          <a:p>
            <a:pPr algn="just"/>
            <a:r>
              <a:rPr lang="en-US" sz="1400" dirty="0"/>
              <a:t>Data analysis is a methodical application of statistical or logical tools for describing illustrating, condensing, summarizing and evaluating data. </a:t>
            </a:r>
            <a:r>
              <a:rPr lang="en-US" sz="1400" dirty="0">
                <a:latin typeface="Times New Roman" pitchFamily="18" charset="0"/>
                <a:cs typeface="Times New Roman" pitchFamily="18" charset="0"/>
              </a:rPr>
              <a:t>This dataset includes features like UserName, Location, TweetAt, Original Tweet and Sentiment.</a:t>
            </a:r>
          </a:p>
        </p:txBody>
      </p:sp>
      <p:sp>
        <p:nvSpPr>
          <p:cNvPr id="6" name="Rectangle 5"/>
          <p:cNvSpPr/>
          <p:nvPr/>
        </p:nvSpPr>
        <p:spPr>
          <a:xfrm>
            <a:off x="4651513" y="5881517"/>
            <a:ext cx="1736035" cy="369332"/>
          </a:xfrm>
          <a:prstGeom prst="rect">
            <a:avLst/>
          </a:prstGeom>
        </p:spPr>
        <p:txBody>
          <a:bodyPr wrap="square">
            <a:spAutoFit/>
          </a:bodyPr>
          <a:lstStyle/>
          <a:p>
            <a:r>
              <a:rPr lang="en-US" dirty="0">
                <a:latin typeface="Times New Roman" pitchFamily="18" charset="0"/>
                <a:cs typeface="Times New Roman" pitchFamily="18" charset="0"/>
              </a:rPr>
              <a:t>Screenshot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8802094" cy="1475936"/>
          </a:xfrm>
        </p:spPr>
        <p:txBody>
          <a:bodyPr>
            <a:normAutofit/>
          </a:bodyPr>
          <a:lstStyle/>
          <a:p>
            <a:pPr algn="ctr"/>
            <a:r>
              <a:rPr lang="en-US" sz="2000" dirty="0">
                <a:latin typeface="Times New Roman" pitchFamily="18" charset="0"/>
                <a:cs typeface="Times New Roman" pitchFamily="18" charset="0"/>
              </a:rPr>
              <a:t>This screenshot shows the date and number of tweets posted on the particular date. </a:t>
            </a:r>
          </a:p>
        </p:txBody>
      </p:sp>
      <p:pic>
        <p:nvPicPr>
          <p:cNvPr id="4" name="Content Placeholder 3" descr="Screenshot 2022-06-24 140307.png"/>
          <p:cNvPicPr>
            <a:picLocks noGrp="1" noChangeAspect="1"/>
          </p:cNvPicPr>
          <p:nvPr>
            <p:ph idx="1"/>
          </p:nvPr>
        </p:nvPicPr>
        <p:blipFill>
          <a:blip r:embed="rId2"/>
          <a:stretch>
            <a:fillRect/>
          </a:stretch>
        </p:blipFill>
        <p:spPr>
          <a:xfrm>
            <a:off x="2996528" y="1938953"/>
            <a:ext cx="5749908" cy="3314159"/>
          </a:xfrm>
        </p:spPr>
      </p:pic>
      <p:sp>
        <p:nvSpPr>
          <p:cNvPr id="6" name="Rectangle 5"/>
          <p:cNvSpPr/>
          <p:nvPr/>
        </p:nvSpPr>
        <p:spPr>
          <a:xfrm>
            <a:off x="4959982" y="5669482"/>
            <a:ext cx="1370888" cy="369332"/>
          </a:xfrm>
          <a:prstGeom prst="rect">
            <a:avLst/>
          </a:prstGeom>
        </p:spPr>
        <p:txBody>
          <a:bodyPr wrap="none">
            <a:spAutoFit/>
          </a:bodyPr>
          <a:lstStyle/>
          <a:p>
            <a:r>
              <a:rPr lang="en-US" dirty="0">
                <a:latin typeface="Times New Roman" pitchFamily="18" charset="0"/>
                <a:cs typeface="Times New Roman" pitchFamily="18" charset="0"/>
              </a:rPr>
              <a:t>Screenshot 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000" dirty="0">
                <a:latin typeface="Times New Roman" pitchFamily="18" charset="0"/>
                <a:cs typeface="Times New Roman" pitchFamily="18" charset="0"/>
              </a:rPr>
              <a:t>This screenshot shows the country and the number of tweets posted on the particular country. </a:t>
            </a:r>
          </a:p>
        </p:txBody>
      </p:sp>
      <p:pic>
        <p:nvPicPr>
          <p:cNvPr id="4" name="Content Placeholder 3" descr="Screenshot 2022-06-24 140438.png"/>
          <p:cNvPicPr>
            <a:picLocks noGrp="1" noChangeAspect="1"/>
          </p:cNvPicPr>
          <p:nvPr>
            <p:ph idx="1"/>
          </p:nvPr>
        </p:nvPicPr>
        <p:blipFill>
          <a:blip r:embed="rId2"/>
          <a:stretch>
            <a:fillRect/>
          </a:stretch>
        </p:blipFill>
        <p:spPr>
          <a:xfrm>
            <a:off x="1142168" y="1855304"/>
            <a:ext cx="10053317" cy="3935896"/>
          </a:xfrm>
          <a:prstGeom prst="rect">
            <a:avLst/>
          </a:prstGeom>
        </p:spPr>
      </p:pic>
      <p:sp>
        <p:nvSpPr>
          <p:cNvPr id="5" name="Rectangle 4"/>
          <p:cNvSpPr/>
          <p:nvPr/>
        </p:nvSpPr>
        <p:spPr>
          <a:xfrm>
            <a:off x="4867217" y="5881517"/>
            <a:ext cx="1370888" cy="369332"/>
          </a:xfrm>
          <a:prstGeom prst="rect">
            <a:avLst/>
          </a:prstGeom>
        </p:spPr>
        <p:txBody>
          <a:bodyPr wrap="none">
            <a:spAutoFit/>
          </a:bodyPr>
          <a:lstStyle/>
          <a:p>
            <a:r>
              <a:rPr lang="en-US" dirty="0">
                <a:latin typeface="Times New Roman" pitchFamily="18" charset="0"/>
                <a:cs typeface="Times New Roman" pitchFamily="18" charset="0"/>
              </a:rPr>
              <a:t>Screenshot 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creenshot 2022-06-24 151634.png"/>
          <p:cNvPicPr>
            <a:picLocks noGrp="1" noChangeAspect="1"/>
          </p:cNvPicPr>
          <p:nvPr>
            <p:ph idx="1"/>
          </p:nvPr>
        </p:nvPicPr>
        <p:blipFill>
          <a:blip r:embed="rId2"/>
          <a:stretch>
            <a:fillRect/>
          </a:stretch>
        </p:blipFill>
        <p:spPr>
          <a:xfrm>
            <a:off x="1113182" y="159026"/>
            <a:ext cx="10164417" cy="5830958"/>
          </a:xfrm>
        </p:spPr>
      </p:pic>
      <p:sp>
        <p:nvSpPr>
          <p:cNvPr id="7" name="Rectangle 6"/>
          <p:cNvSpPr/>
          <p:nvPr/>
        </p:nvSpPr>
        <p:spPr>
          <a:xfrm>
            <a:off x="5158765" y="5908021"/>
            <a:ext cx="1370888" cy="369332"/>
          </a:xfrm>
          <a:prstGeom prst="rect">
            <a:avLst/>
          </a:prstGeom>
        </p:spPr>
        <p:txBody>
          <a:bodyPr wrap="none">
            <a:spAutoFit/>
          </a:bodyPr>
          <a:lstStyle/>
          <a:p>
            <a:r>
              <a:rPr lang="en-US" dirty="0">
                <a:latin typeface="Times New Roman" pitchFamily="18" charset="0"/>
                <a:cs typeface="Times New Roman" pitchFamily="18" charset="0"/>
              </a:rPr>
              <a:t>Screenshot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000" dirty="0">
                <a:latin typeface="Times New Roman" pitchFamily="18" charset="0"/>
                <a:cs typeface="Times New Roman" pitchFamily="18" charset="0"/>
              </a:rPr>
              <a:t>This screenshot shows the polarity of the tweets.</a:t>
            </a:r>
          </a:p>
        </p:txBody>
      </p:sp>
      <p:pic>
        <p:nvPicPr>
          <p:cNvPr id="4" name="Content Placeholder 3" descr="Screenshot 2022-06-24 140545.png"/>
          <p:cNvPicPr>
            <a:picLocks noGrp="1" noChangeAspect="1"/>
          </p:cNvPicPr>
          <p:nvPr>
            <p:ph idx="1"/>
          </p:nvPr>
        </p:nvPicPr>
        <p:blipFill>
          <a:blip r:embed="rId2"/>
          <a:stretch>
            <a:fillRect/>
          </a:stretch>
        </p:blipFill>
        <p:spPr>
          <a:xfrm>
            <a:off x="1009775" y="2478157"/>
            <a:ext cx="10371011" cy="2796208"/>
          </a:xfrm>
        </p:spPr>
      </p:pic>
      <p:sp>
        <p:nvSpPr>
          <p:cNvPr id="5" name="Rectangle 4"/>
          <p:cNvSpPr/>
          <p:nvPr/>
        </p:nvSpPr>
        <p:spPr>
          <a:xfrm>
            <a:off x="4920225" y="5828508"/>
            <a:ext cx="1370888" cy="369332"/>
          </a:xfrm>
          <a:prstGeom prst="rect">
            <a:avLst/>
          </a:prstGeom>
        </p:spPr>
        <p:txBody>
          <a:bodyPr wrap="none">
            <a:spAutoFit/>
          </a:bodyPr>
          <a:lstStyle/>
          <a:p>
            <a:r>
              <a:rPr lang="en-US" dirty="0">
                <a:latin typeface="Times New Roman" pitchFamily="18" charset="0"/>
                <a:cs typeface="Times New Roman" pitchFamily="18" charset="0"/>
              </a:rPr>
              <a:t>Screenshot 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242393"/>
          </a:xfrm>
        </p:spPr>
        <p:txBody>
          <a:bodyPr>
            <a:normAutofit/>
          </a:bodyPr>
          <a:lstStyle/>
          <a:p>
            <a:br>
              <a:rPr lang="en-US" sz="1800" b="1" dirty="0">
                <a:solidFill>
                  <a:schemeClr val="tx1"/>
                </a:solidFill>
                <a:latin typeface="Times New Roman" pitchFamily="18" charset="0"/>
                <a:cs typeface="Times New Roman" pitchFamily="18" charset="0"/>
              </a:rPr>
            </a:br>
            <a:br>
              <a:rPr lang="en-US" sz="1800" b="1" dirty="0">
                <a:solidFill>
                  <a:schemeClr val="tx1"/>
                </a:solidFill>
                <a:latin typeface="Times New Roman" pitchFamily="18" charset="0"/>
                <a:cs typeface="Times New Roman" pitchFamily="18" charset="0"/>
              </a:rPr>
            </a:br>
            <a:r>
              <a:rPr lang="en-US" sz="1800" dirty="0">
                <a:solidFill>
                  <a:schemeClr val="tx1"/>
                </a:solidFill>
                <a:latin typeface="Times New Roman" pitchFamily="18" charset="0"/>
                <a:cs typeface="Times New Roman" pitchFamily="18" charset="0"/>
              </a:rPr>
              <a:t>DATA PREPROCESSING</a:t>
            </a:r>
          </a:p>
        </p:txBody>
      </p:sp>
      <p:pic>
        <p:nvPicPr>
          <p:cNvPr id="4" name="image466.png"/>
          <p:cNvPicPr>
            <a:picLocks noGrp="1"/>
          </p:cNvPicPr>
          <p:nvPr>
            <p:ph idx="1"/>
          </p:nvPr>
        </p:nvPicPr>
        <p:blipFill>
          <a:blip r:embed="rId2" cstate="print"/>
          <a:stretch>
            <a:fillRect/>
          </a:stretch>
        </p:blipFill>
        <p:spPr>
          <a:xfrm>
            <a:off x="3671718" y="1846263"/>
            <a:ext cx="4908890" cy="4022725"/>
          </a:xfrm>
          <a:prstGeom prst="rect">
            <a:avLst/>
          </a:prstGeom>
        </p:spPr>
      </p:pic>
      <p:sp>
        <p:nvSpPr>
          <p:cNvPr id="5" name="Rectangle 4"/>
          <p:cNvSpPr/>
          <p:nvPr/>
        </p:nvSpPr>
        <p:spPr>
          <a:xfrm>
            <a:off x="4916254" y="5922497"/>
            <a:ext cx="2359492" cy="369332"/>
          </a:xfrm>
          <a:prstGeom prst="rect">
            <a:avLst/>
          </a:prstGeom>
        </p:spPr>
        <p:txBody>
          <a:bodyPr wrap="square">
            <a:spAutoFit/>
          </a:bodyPr>
          <a:lstStyle/>
          <a:p>
            <a:r>
              <a:rPr lang="en-US" dirty="0"/>
              <a:t>Fig. Data Preprocessing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library\Desktop\Rahul MG\project images\Image1.jpeg"/>
          <p:cNvPicPr>
            <a:picLocks noGrp="1" noChangeAspect="1" noChangeArrowheads="1"/>
          </p:cNvPicPr>
          <p:nvPr>
            <p:ph idx="1"/>
          </p:nvPr>
        </p:nvPicPr>
        <p:blipFill>
          <a:blip r:embed="rId2"/>
          <a:srcRect/>
          <a:stretch>
            <a:fillRect/>
          </a:stretch>
        </p:blipFill>
        <p:spPr bwMode="auto">
          <a:xfrm>
            <a:off x="1139484" y="3502854"/>
            <a:ext cx="10015880" cy="2180493"/>
          </a:xfrm>
          <a:prstGeom prst="rect">
            <a:avLst/>
          </a:prstGeom>
          <a:noFill/>
        </p:spPr>
      </p:pic>
      <p:sp>
        <p:nvSpPr>
          <p:cNvPr id="7" name="Rectangle 6"/>
          <p:cNvSpPr/>
          <p:nvPr/>
        </p:nvSpPr>
        <p:spPr>
          <a:xfrm>
            <a:off x="1139483" y="1941343"/>
            <a:ext cx="9988062" cy="1156086"/>
          </a:xfrm>
          <a:prstGeom prst="rect">
            <a:avLst/>
          </a:prstGeom>
        </p:spPr>
        <p:txBody>
          <a:bodyPr wrap="square">
            <a:spAutoFit/>
          </a:bodyPr>
          <a:lstStyle/>
          <a:p>
            <a:pPr>
              <a:lnSpc>
                <a:spcPct val="150000"/>
              </a:lnSpc>
              <a:buClr>
                <a:schemeClr val="tx1"/>
              </a:buClr>
              <a:buSzPct val="153000"/>
              <a:buFont typeface="Arial" pitchFamily="34" charset="0"/>
              <a:buChar char="•"/>
            </a:pPr>
            <a:r>
              <a:rPr lang="en-US" sz="1600" dirty="0">
                <a:latin typeface="Times New Roman" panose="02020603050405020304" pitchFamily="18" charset="0"/>
                <a:cs typeface="Times New Roman" pitchFamily="18" charset="0"/>
              </a:rPr>
              <a:t>  Remove usernames, numbers, </a:t>
            </a:r>
            <a:r>
              <a:rPr lang="en-US" sz="1600" dirty="0" err="1">
                <a:latin typeface="Times New Roman" pitchFamily="18" charset="0"/>
                <a:cs typeface="Times New Roman" pitchFamily="18" charset="0"/>
              </a:rPr>
              <a:t>hashtags</a:t>
            </a:r>
            <a:r>
              <a:rPr lang="en-US" sz="1600" dirty="0">
                <a:latin typeface="Times New Roman" pitchFamily="18" charset="0"/>
                <a:cs typeface="Times New Roman" pitchFamily="18" charset="0"/>
              </a:rPr>
              <a:t>, and </a:t>
            </a:r>
            <a:r>
              <a:rPr lang="en-US" sz="1600" dirty="0" err="1">
                <a:latin typeface="Times New Roman" pitchFamily="18" charset="0"/>
                <a:cs typeface="Times New Roman" pitchFamily="18" charset="0"/>
              </a:rPr>
              <a:t>urls</a:t>
            </a:r>
            <a:endParaRPr lang="en-US" sz="1600" dirty="0">
              <a:latin typeface="Times New Roman" pitchFamily="18" charset="0"/>
              <a:cs typeface="Times New Roman" pitchFamily="18" charset="0"/>
            </a:endParaRPr>
          </a:p>
          <a:p>
            <a:pPr algn="just">
              <a:lnSpc>
                <a:spcPct val="150000"/>
              </a:lnSpc>
              <a:buClr>
                <a:schemeClr val="tx1"/>
              </a:buClr>
              <a:buSzPct val="153000"/>
            </a:pPr>
            <a:r>
              <a:rPr lang="en-US" sz="1600" dirty="0">
                <a:latin typeface="Times New Roman" pitchFamily="18" charset="0"/>
                <a:cs typeface="Times New Roman" pitchFamily="18" charset="0"/>
              </a:rPr>
              <a:t>It is a common technique to remove the usernames, numbers, </a:t>
            </a:r>
            <a:r>
              <a:rPr lang="en-US" sz="1600" dirty="0" err="1">
                <a:latin typeface="Times New Roman" panose="02020603050405020304" pitchFamily="18" charset="0"/>
                <a:cs typeface="Times New Roman" panose="02020603050405020304" pitchFamily="18" charset="0"/>
              </a:rPr>
              <a:t>hashtags</a:t>
            </a:r>
            <a:r>
              <a:rPr lang="en-US" sz="1600" dirty="0">
                <a:latin typeface="Times New Roman" pitchFamily="18" charset="0"/>
                <a:cs typeface="Times New Roman" pitchFamily="18" charset="0"/>
              </a:rPr>
              <a:t>, and URLs    from the tweet since they do not express any sentiments.</a:t>
            </a:r>
          </a:p>
        </p:txBody>
      </p:sp>
      <p:sp>
        <p:nvSpPr>
          <p:cNvPr id="8" name="Rectangle 7"/>
          <p:cNvSpPr/>
          <p:nvPr/>
        </p:nvSpPr>
        <p:spPr>
          <a:xfrm>
            <a:off x="4431323" y="5613009"/>
            <a:ext cx="1659988" cy="458074"/>
          </a:xfrm>
          <a:prstGeom prst="rect">
            <a:avLst/>
          </a:prstGeom>
        </p:spPr>
        <p:txBody>
          <a:bodyPr wrap="square">
            <a:spAutoFit/>
          </a:bodyPr>
          <a:lstStyle/>
          <a:p>
            <a:pPr>
              <a:lnSpc>
                <a:spcPct val="150000"/>
              </a:lnSpc>
              <a:buClr>
                <a:schemeClr val="tx1"/>
              </a:buClr>
              <a:buSzPct val="153000"/>
            </a:pPr>
            <a:r>
              <a:rPr lang="en-US" dirty="0">
                <a:latin typeface="Times New Roman" pitchFamily="18" charset="0"/>
                <a:cs typeface="Times New Roman" pitchFamily="18" charset="0"/>
              </a:rPr>
              <a:t>Screenshot 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library\Desktop\Rahul MG\project images\IMage2.jpeg"/>
          <p:cNvPicPr>
            <a:picLocks noChangeAspect="1" noChangeArrowheads="1"/>
          </p:cNvPicPr>
          <p:nvPr/>
        </p:nvPicPr>
        <p:blipFill>
          <a:blip r:embed="rId2"/>
          <a:srcRect/>
          <a:stretch>
            <a:fillRect/>
          </a:stretch>
        </p:blipFill>
        <p:spPr bwMode="auto">
          <a:xfrm>
            <a:off x="886265" y="3137095"/>
            <a:ext cx="10396024" cy="2180492"/>
          </a:xfrm>
          <a:prstGeom prst="rect">
            <a:avLst/>
          </a:prstGeom>
          <a:noFill/>
        </p:spPr>
      </p:pic>
      <p:sp>
        <p:nvSpPr>
          <p:cNvPr id="3" name="Rectangle 2"/>
          <p:cNvSpPr/>
          <p:nvPr/>
        </p:nvSpPr>
        <p:spPr>
          <a:xfrm>
            <a:off x="928468" y="928468"/>
            <a:ext cx="9777045" cy="2616101"/>
          </a:xfrm>
          <a:prstGeom prst="rect">
            <a:avLst/>
          </a:prstGeom>
        </p:spPr>
        <p:txBody>
          <a:bodyPr wrap="square">
            <a:spAutoFit/>
          </a:bodyPr>
          <a:lstStyle/>
          <a:p>
            <a:pPr>
              <a:buFont typeface="Arial" pitchFamily="34" charset="0"/>
              <a:buChar char="•"/>
            </a:pPr>
            <a:r>
              <a:rPr lang="en-US" sz="1600" dirty="0">
                <a:latin typeface="Times New Roman" pitchFamily="18" charset="0"/>
                <a:cs typeface="Times New Roman" pitchFamily="18" charset="0"/>
              </a:rPr>
              <a:t>Remove white-spaces, punctuation, and special characters:</a:t>
            </a:r>
          </a:p>
          <a:p>
            <a:pPr algn="just">
              <a:lnSpc>
                <a:spcPct val="150000"/>
              </a:lnSpc>
            </a:pPr>
            <a:r>
              <a:rPr lang="en-US" sz="1600" dirty="0">
                <a:latin typeface="Times New Roman" pitchFamily="18" charset="0"/>
                <a:cs typeface="Times New Roman" pitchFamily="18" charset="0"/>
              </a:rPr>
              <a:t>This stage is to perform is removing all occurred white-spaces in the tweet, then we delete exclamation, stop and question punctuation marks. Finally, as we know the special characters do not hold any negative or positive effect on communicated opinion in the given tweet, hence all existed special characters are eliminated</a:t>
            </a:r>
          </a:p>
          <a:p>
            <a:pPr>
              <a:buFont typeface="Arial" pitchFamily="34" charset="0"/>
              <a:buChar char="•"/>
            </a:pPr>
            <a:endParaRPr lang="en-US" sz="16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endParaRPr lang="en-US" sz="2000" dirty="0"/>
          </a:p>
        </p:txBody>
      </p:sp>
      <p:sp>
        <p:nvSpPr>
          <p:cNvPr id="4" name="Rectangle 3"/>
          <p:cNvSpPr/>
          <p:nvPr/>
        </p:nvSpPr>
        <p:spPr>
          <a:xfrm>
            <a:off x="4389119" y="5345722"/>
            <a:ext cx="3191124" cy="369332"/>
          </a:xfrm>
          <a:prstGeom prst="rect">
            <a:avLst/>
          </a:prstGeom>
        </p:spPr>
        <p:txBody>
          <a:bodyPr wrap="square">
            <a:spAutoFit/>
          </a:bodyPr>
          <a:lstStyle/>
          <a:p>
            <a:r>
              <a:rPr lang="en-US" dirty="0">
                <a:latin typeface="Times New Roman" pitchFamily="18" charset="0"/>
                <a:cs typeface="Times New Roman" pitchFamily="18" charset="0"/>
              </a:rPr>
              <a:t>           Screenshot 8</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9483" y="816744"/>
            <a:ext cx="10030265" cy="1892826"/>
          </a:xfrm>
          <a:prstGeom prst="rect">
            <a:avLst/>
          </a:prstGeom>
        </p:spPr>
        <p:txBody>
          <a:bodyPr wrap="square">
            <a:spAutoFit/>
          </a:bodyPr>
          <a:lstStyle/>
          <a:p>
            <a:pPr>
              <a:lnSpc>
                <a:spcPct val="150000"/>
              </a:lnSpc>
              <a:buClr>
                <a:schemeClr val="tx1"/>
              </a:buClr>
              <a:buSzPct val="140000"/>
              <a:buFont typeface="Arial" pitchFamily="34" charset="0"/>
              <a:buChar char="•"/>
            </a:pPr>
            <a:r>
              <a:rPr lang="en-US" sz="1600" dirty="0">
                <a:latin typeface="Times New Roman" panose="02020603050405020304" pitchFamily="18" charset="0"/>
                <a:cs typeface="Times New Roman" pitchFamily="18" charset="0"/>
              </a:rPr>
              <a:t>Lower-casing</a:t>
            </a:r>
          </a:p>
          <a:p>
            <a:pPr algn="just">
              <a:lnSpc>
                <a:spcPct val="150000"/>
              </a:lnSpc>
              <a:buClr>
                <a:schemeClr val="tx1"/>
              </a:buClr>
              <a:buSzPct val="153000"/>
            </a:pPr>
            <a:r>
              <a:rPr lang="en-US" sz="1400" dirty="0">
                <a:latin typeface="Times New Roman" panose="02020603050405020304" pitchFamily="18" charset="0"/>
                <a:cs typeface="Times New Roman" pitchFamily="18" charset="0"/>
              </a:rPr>
              <a:t>  All the uppercase letters in the given tweet were converted to lower case, and that minimize the dimensionality of each terms.</a:t>
            </a:r>
          </a:p>
          <a:p>
            <a:pPr algn="just">
              <a:lnSpc>
                <a:spcPct val="150000"/>
              </a:lnSpc>
              <a:buClr>
                <a:schemeClr val="tx1"/>
              </a:buClr>
              <a:buSzPct val="140000"/>
              <a:buFont typeface="Arial" pitchFamily="34" charset="0"/>
              <a:buChar char="•"/>
            </a:pPr>
            <a:r>
              <a:rPr lang="en-US" sz="1600" dirty="0">
                <a:latin typeface="Times New Roman" panose="02020603050405020304" pitchFamily="18" charset="0"/>
                <a:cs typeface="Times New Roman" pitchFamily="18" charset="0"/>
              </a:rPr>
              <a:t>Stemming</a:t>
            </a:r>
          </a:p>
          <a:p>
            <a:pPr algn="just">
              <a:lnSpc>
                <a:spcPct val="150000"/>
              </a:lnSpc>
              <a:buClr>
                <a:schemeClr val="tx1"/>
              </a:buClr>
              <a:buSzPct val="153000"/>
            </a:pPr>
            <a:r>
              <a:rPr lang="en-US" sz="1400" dirty="0">
                <a:latin typeface="Times New Roman" panose="02020603050405020304" pitchFamily="18" charset="0"/>
                <a:cs typeface="Times New Roman" pitchFamily="18" charset="0"/>
              </a:rPr>
              <a:t>   This aims to reduce the size of each word by converting the derived word into its root, or stem form.</a:t>
            </a:r>
          </a:p>
          <a:p>
            <a:pPr>
              <a:lnSpc>
                <a:spcPct val="150000"/>
              </a:lnSpc>
              <a:buClr>
                <a:schemeClr val="tx1"/>
              </a:buClr>
              <a:buSzPct val="153000"/>
              <a:buFont typeface="Arial" pitchFamily="34" charset="0"/>
              <a:buChar char="•"/>
            </a:pPr>
            <a:endParaRPr lang="en-US" dirty="0">
              <a:latin typeface="Times New Roman" pitchFamily="18" charset="0"/>
              <a:cs typeface="Times New Roman" pitchFamily="18" charset="0"/>
            </a:endParaRPr>
          </a:p>
        </p:txBody>
      </p:sp>
      <p:pic>
        <p:nvPicPr>
          <p:cNvPr id="3" name="Picture 2" descr="C:\Users\library\Desktop\Rahul MG\project images\IMG4.jpeg"/>
          <p:cNvPicPr>
            <a:picLocks noChangeAspect="1" noChangeArrowheads="1"/>
          </p:cNvPicPr>
          <p:nvPr/>
        </p:nvPicPr>
        <p:blipFill>
          <a:blip r:embed="rId2"/>
          <a:srcRect/>
          <a:stretch>
            <a:fillRect/>
          </a:stretch>
        </p:blipFill>
        <p:spPr bwMode="auto">
          <a:xfrm>
            <a:off x="1336431" y="3165232"/>
            <a:ext cx="9875520" cy="2110154"/>
          </a:xfrm>
          <a:prstGeom prst="rect">
            <a:avLst/>
          </a:prstGeom>
          <a:noFill/>
        </p:spPr>
      </p:pic>
      <p:sp>
        <p:nvSpPr>
          <p:cNvPr id="4" name="Rectangle 3"/>
          <p:cNvSpPr/>
          <p:nvPr/>
        </p:nvSpPr>
        <p:spPr>
          <a:xfrm>
            <a:off x="4757531" y="5387925"/>
            <a:ext cx="1840218" cy="369332"/>
          </a:xfrm>
          <a:prstGeom prst="rect">
            <a:avLst/>
          </a:prstGeom>
        </p:spPr>
        <p:txBody>
          <a:bodyPr wrap="square">
            <a:spAutoFit/>
          </a:bodyPr>
          <a:lstStyle/>
          <a:p>
            <a:r>
              <a:rPr lang="en-US" dirty="0">
                <a:latin typeface="Times New Roman" pitchFamily="18" charset="0"/>
                <a:cs typeface="Times New Roman" pitchFamily="18" charset="0"/>
              </a:rPr>
              <a:t>Screenshot 9</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library\Desktop\Rahul MG\project images\IMG 3.jpeg"/>
          <p:cNvPicPr>
            <a:picLocks noChangeAspect="1" noChangeArrowheads="1"/>
          </p:cNvPicPr>
          <p:nvPr/>
        </p:nvPicPr>
        <p:blipFill>
          <a:blip r:embed="rId2"/>
          <a:srcRect/>
          <a:stretch>
            <a:fillRect/>
          </a:stretch>
        </p:blipFill>
        <p:spPr bwMode="auto">
          <a:xfrm>
            <a:off x="1153551" y="2180492"/>
            <a:ext cx="9720775" cy="3137096"/>
          </a:xfrm>
          <a:prstGeom prst="rect">
            <a:avLst/>
          </a:prstGeom>
          <a:noFill/>
        </p:spPr>
      </p:pic>
      <p:sp>
        <p:nvSpPr>
          <p:cNvPr id="3" name="Rectangle 2"/>
          <p:cNvSpPr/>
          <p:nvPr/>
        </p:nvSpPr>
        <p:spPr>
          <a:xfrm>
            <a:off x="1266092" y="858129"/>
            <a:ext cx="9594166" cy="1231106"/>
          </a:xfrm>
          <a:prstGeom prst="rect">
            <a:avLst/>
          </a:prstGeom>
        </p:spPr>
        <p:txBody>
          <a:bodyPr wrap="square">
            <a:spAutoFit/>
          </a:bodyPr>
          <a:lstStyle/>
          <a:p>
            <a:pPr algn="just">
              <a:buFont typeface="Arial" pitchFamily="34" charset="0"/>
              <a:buChar char="•"/>
            </a:pPr>
            <a:r>
              <a:rPr lang="en-US" sz="2000" dirty="0">
                <a:latin typeface="Times New Roman" pitchFamily="18" charset="0"/>
                <a:cs typeface="Times New Roman" pitchFamily="18" charset="0"/>
              </a:rPr>
              <a:t>Tokenization </a:t>
            </a:r>
          </a:p>
          <a:p>
            <a:pPr algn="just">
              <a:buFont typeface="Arial" pitchFamily="34" charset="0"/>
              <a:buChar char="•"/>
            </a:pPr>
            <a:endParaRPr lang="en-US" sz="14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 It is a technique that divides each input tweet into a set of meaningful words since each word is named a token</a:t>
            </a:r>
          </a:p>
          <a:p>
            <a:pPr>
              <a:buFont typeface="Arial" pitchFamily="34" charset="0"/>
              <a:buChar char="•"/>
            </a:pPr>
            <a:endParaRPr lang="en-US" sz="2400" dirty="0"/>
          </a:p>
        </p:txBody>
      </p:sp>
      <p:sp>
        <p:nvSpPr>
          <p:cNvPr id="4" name="Rectangle 3"/>
          <p:cNvSpPr/>
          <p:nvPr/>
        </p:nvSpPr>
        <p:spPr>
          <a:xfrm>
            <a:off x="4768949" y="5486399"/>
            <a:ext cx="1702190" cy="369332"/>
          </a:xfrm>
          <a:prstGeom prst="rect">
            <a:avLst/>
          </a:prstGeom>
        </p:spPr>
        <p:txBody>
          <a:bodyPr wrap="square">
            <a:spAutoFit/>
          </a:bodyPr>
          <a:lstStyle/>
          <a:p>
            <a:r>
              <a:rPr lang="en-US" dirty="0">
                <a:latin typeface="Times New Roman" pitchFamily="18" charset="0"/>
                <a:cs typeface="Times New Roman" pitchFamily="18" charset="0"/>
              </a:rPr>
              <a:t>Screenshot 10</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dirty="0">
                <a:solidFill>
                  <a:schemeClr val="tx1"/>
                </a:solidFill>
                <a:latin typeface="Times New Roman" pitchFamily="18" charset="0"/>
                <a:cs typeface="Times New Roman" pitchFamily="18" charset="0"/>
              </a:rPr>
              <a:t>DATA  REPRESENTATION</a:t>
            </a:r>
          </a:p>
        </p:txBody>
      </p:sp>
      <p:sp>
        <p:nvSpPr>
          <p:cNvPr id="3" name="Content Placeholder 2"/>
          <p:cNvSpPr>
            <a:spLocks noGrp="1"/>
          </p:cNvSpPr>
          <p:nvPr>
            <p:ph idx="1"/>
          </p:nvPr>
        </p:nvSpPr>
        <p:spPr>
          <a:xfrm>
            <a:off x="1097280" y="1845733"/>
            <a:ext cx="10058400" cy="4315915"/>
          </a:xfrm>
        </p:spPr>
        <p:txBody>
          <a:bodyPr>
            <a:normAutofit fontScale="92500"/>
          </a:bodyPr>
          <a:lstStyle/>
          <a:p>
            <a:pPr>
              <a:lnSpc>
                <a:spcPct val="150000"/>
              </a:lnSpc>
            </a:pPr>
            <a:r>
              <a:rPr lang="en-US" sz="1400" dirty="0">
                <a:solidFill>
                  <a:schemeClr val="tx1"/>
                </a:solidFill>
                <a:latin typeface="Times New Roman" panose="02020603050405020304" pitchFamily="18" charset="0"/>
                <a:cs typeface="Times New Roman" panose="02020603050405020304" pitchFamily="18" charset="0"/>
              </a:rPr>
              <a:t>The primary purpose here is to summarize and convert text-based input data into a set of feature vectors that operate agreeably to the used machine learning classifier.</a:t>
            </a:r>
          </a:p>
          <a:p>
            <a:pPr>
              <a:buFont typeface="Arial" pitchFamily="34" charset="0"/>
              <a:buChar char="•"/>
            </a:pPr>
            <a:r>
              <a:rPr lang="en-US" sz="1600" dirty="0">
                <a:solidFill>
                  <a:schemeClr val="tx1"/>
                </a:solidFill>
                <a:latin typeface="Times New Roman" panose="02020603050405020304" pitchFamily="18" charset="0"/>
                <a:cs typeface="Times New Roman" panose="02020603050405020304" pitchFamily="18" charset="0"/>
              </a:rPr>
              <a:t>N-Grams </a:t>
            </a:r>
            <a:r>
              <a:rPr lang="en-US" sz="1400" dirty="0">
                <a:solidFill>
                  <a:schemeClr val="tx1"/>
                </a:solidFill>
                <a:latin typeface="Times New Roman" panose="02020603050405020304" pitchFamily="18" charset="0"/>
                <a:cs typeface="Times New Roman" panose="02020603050405020304" pitchFamily="18" charset="0"/>
              </a:rPr>
              <a:t>:</a:t>
            </a:r>
          </a:p>
          <a:p>
            <a:pPr algn="just">
              <a:lnSpc>
                <a:spcPct val="160000"/>
              </a:lnSpc>
            </a:pPr>
            <a:r>
              <a:rPr lang="en-US" sz="1400" dirty="0">
                <a:solidFill>
                  <a:schemeClr val="tx1"/>
                </a:solidFill>
                <a:latin typeface="Times New Roman" panose="02020603050405020304" pitchFamily="18" charset="0"/>
                <a:cs typeface="Times New Roman" panose="02020603050405020304" pitchFamily="18" charset="0"/>
              </a:rPr>
              <a:t>The N-grams methods aid in forming useful word representation vector for unknown words, thus enhancing       classification accuracy in tasks based on textual data, where a significant portion of unknown words appears, e.g., in opinion mining.</a:t>
            </a:r>
          </a:p>
          <a:p>
            <a:pPr algn="just">
              <a:buFont typeface="Arial" pitchFamily="34" charset="0"/>
              <a:buChar char="•"/>
            </a:pPr>
            <a:r>
              <a:rPr lang="en-US" sz="1600" dirty="0">
                <a:solidFill>
                  <a:schemeClr val="tx1"/>
                </a:solidFill>
                <a:latin typeface="Times New Roman" panose="02020603050405020304" pitchFamily="18" charset="0"/>
                <a:cs typeface="Times New Roman" panose="02020603050405020304" pitchFamily="18" charset="0"/>
              </a:rPr>
              <a:t>Bag of Words </a:t>
            </a:r>
            <a:r>
              <a:rPr lang="en-US" sz="1400" dirty="0">
                <a:solidFill>
                  <a:schemeClr val="tx1"/>
                </a:solidFill>
                <a:latin typeface="Times New Roman" panose="02020603050405020304" pitchFamily="18" charset="0"/>
                <a:cs typeface="Times New Roman" panose="02020603050405020304" pitchFamily="18" charset="0"/>
              </a:rPr>
              <a:t>:</a:t>
            </a:r>
          </a:p>
          <a:p>
            <a:pPr algn="just">
              <a:lnSpc>
                <a:spcPct val="150000"/>
              </a:lnSpc>
            </a:pPr>
            <a:r>
              <a:rPr lang="en-US" sz="1400" dirty="0">
                <a:solidFill>
                  <a:schemeClr val="tx1"/>
                </a:solidFill>
                <a:latin typeface="Times New Roman" panose="02020603050405020304" pitchFamily="18" charset="0"/>
                <a:cs typeface="Times New Roman" panose="02020603050405020304" pitchFamily="18" charset="0"/>
              </a:rPr>
              <a:t>It is considered as a valuable and straightforward approach for data representation that maps a set of sentences to be classified into a numerical vector</a:t>
            </a:r>
            <a:r>
              <a:rPr lang="en-US" sz="1600" dirty="0">
                <a:solidFill>
                  <a:schemeClr val="tx1"/>
                </a:solidFill>
                <a:latin typeface="Times New Roman" panose="02020603050405020304" pitchFamily="18" charset="0"/>
                <a:cs typeface="Times New Roman" panose="02020603050405020304" pitchFamily="18" charset="0"/>
              </a:rPr>
              <a:t>.</a:t>
            </a:r>
          </a:p>
          <a:p>
            <a:pPr>
              <a:lnSpc>
                <a:spcPct val="150000"/>
              </a:lnSpc>
              <a:buFont typeface="Arial" pitchFamily="34" charset="0"/>
              <a:buChar char="•"/>
            </a:pPr>
            <a:r>
              <a:rPr lang="en-US" sz="1700" dirty="0">
                <a:latin typeface="Times New Roman" pitchFamily="18" charset="0"/>
                <a:cs typeface="Times New Roman" pitchFamily="18" charset="0"/>
              </a:rPr>
              <a:t>TF-IDF:</a:t>
            </a:r>
          </a:p>
          <a:p>
            <a:pPr>
              <a:lnSpc>
                <a:spcPct val="150000"/>
              </a:lnSpc>
            </a:pPr>
            <a:r>
              <a:rPr lang="en-US" sz="1600" dirty="0">
                <a:latin typeface="Times New Roman" pitchFamily="18" charset="0"/>
                <a:cs typeface="Times New Roman" pitchFamily="18" charset="0"/>
              </a:rPr>
              <a:t> </a:t>
            </a:r>
            <a:r>
              <a:rPr lang="en-US" sz="1500" dirty="0">
                <a:latin typeface="Times New Roman" pitchFamily="18" charset="0"/>
                <a:cs typeface="Times New Roman" pitchFamily="18" charset="0"/>
              </a:rPr>
              <a:t>TF-IDF is used for data representation because it takes into account the frequency of a word over the whole list of documents, here every word is assigned a weight according to how pertinent it is to that sentence.</a:t>
            </a:r>
          </a:p>
          <a:p>
            <a:pPr algn="just">
              <a:lnSpc>
                <a:spcPct val="150000"/>
              </a:lnSpc>
            </a:pPr>
            <a:endParaRPr lang="en-US" sz="16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endParaRPr>
          </a:p>
          <a:p>
            <a:pPr algn="just">
              <a:buNone/>
            </a:pPr>
            <a:endParaRPr lang="en-US" sz="1600" dirty="0">
              <a:solidFill>
                <a:schemeClr val="tx1"/>
              </a:solidFill>
            </a:endParaRPr>
          </a:p>
          <a:p>
            <a:pPr algn="just"/>
            <a:endParaRPr lang="en-US" sz="1800" dirty="0">
              <a:solidFill>
                <a:schemeClr val="tx1"/>
              </a:solidFill>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Final project\New folder (7)\Screenshot 2022-06-22 233014.png"/>
          <p:cNvPicPr/>
          <p:nvPr/>
        </p:nvPicPr>
        <p:blipFill>
          <a:blip r:embed="rId2">
            <a:extLst>
              <a:ext uri="{28A0092B-C50C-407E-A947-70E740481C1C}">
                <a14:useLocalDpi xmlns:a14="http://schemas.microsoft.com/office/drawing/2010/main" val="0"/>
              </a:ext>
            </a:extLst>
          </a:blip>
          <a:srcRect/>
          <a:stretch>
            <a:fillRect/>
          </a:stretch>
        </p:blipFill>
        <p:spPr bwMode="auto">
          <a:xfrm>
            <a:off x="1391478" y="3289752"/>
            <a:ext cx="3975651" cy="1746074"/>
          </a:xfrm>
          <a:prstGeom prst="rect">
            <a:avLst/>
          </a:prstGeom>
          <a:noFill/>
          <a:ln>
            <a:noFill/>
          </a:ln>
        </p:spPr>
      </p:pic>
      <p:pic>
        <p:nvPicPr>
          <p:cNvPr id="3" name="Picture 2" descr="E:\Final project\New folder (7)\Screenshot 2022-06-22 233453.png"/>
          <p:cNvPicPr/>
          <p:nvPr/>
        </p:nvPicPr>
        <p:blipFill>
          <a:blip r:embed="rId3">
            <a:extLst>
              <a:ext uri="{28A0092B-C50C-407E-A947-70E740481C1C}">
                <a14:useLocalDpi xmlns:a14="http://schemas.microsoft.com/office/drawing/2010/main" val="0"/>
              </a:ext>
            </a:extLst>
          </a:blip>
          <a:srcRect/>
          <a:stretch>
            <a:fillRect/>
          </a:stretch>
        </p:blipFill>
        <p:spPr bwMode="auto">
          <a:xfrm>
            <a:off x="5526157" y="3422275"/>
            <a:ext cx="4731025" cy="1162977"/>
          </a:xfrm>
          <a:prstGeom prst="rect">
            <a:avLst/>
          </a:prstGeom>
          <a:noFill/>
          <a:ln>
            <a:noFill/>
          </a:ln>
        </p:spPr>
      </p:pic>
      <p:sp>
        <p:nvSpPr>
          <p:cNvPr id="4" name="Rectangle 3"/>
          <p:cNvSpPr/>
          <p:nvPr/>
        </p:nvSpPr>
        <p:spPr>
          <a:xfrm>
            <a:off x="834888" y="1510748"/>
            <a:ext cx="10986052" cy="1800493"/>
          </a:xfrm>
          <a:prstGeom prst="rect">
            <a:avLst/>
          </a:prstGeom>
        </p:spPr>
        <p:txBody>
          <a:bodyPr wrap="square">
            <a:spAutoFit/>
          </a:bodyPr>
          <a:lstStyle/>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EID3 Decision Tree Algorithm:</a:t>
            </a:r>
          </a:p>
          <a:p>
            <a:pPr>
              <a:lnSpc>
                <a:spcPct val="150000"/>
              </a:lnSpc>
            </a:pPr>
            <a:r>
              <a:rPr lang="en-IN" dirty="0">
                <a:latin typeface="Times New Roman" panose="02020603050405020304" pitchFamily="18" charset="0"/>
                <a:cs typeface="Times New Roman" panose="02020603050405020304" pitchFamily="18" charset="0"/>
              </a:rPr>
              <a:t>The classification challenge comes next, when we apply enhanced ID3 to assign each input text to one of three class labels: negative, neutral, or positive. A classification paradigm known as the ID3 decision tree technique seeks to quantify the IG criterion for decision tree construction.</a:t>
            </a:r>
          </a:p>
        </p:txBody>
      </p:sp>
      <p:sp>
        <p:nvSpPr>
          <p:cNvPr id="5" name="Rectangle 4"/>
          <p:cNvSpPr/>
          <p:nvPr/>
        </p:nvSpPr>
        <p:spPr>
          <a:xfrm>
            <a:off x="887897" y="555439"/>
            <a:ext cx="8057320" cy="646331"/>
          </a:xfrm>
          <a:prstGeom prst="rect">
            <a:avLst/>
          </a:prstGeom>
        </p:spPr>
        <p:txBody>
          <a:bodyPr wrap="square">
            <a:spAutoFit/>
          </a:bodyPr>
          <a:lstStyle/>
          <a:p>
            <a:pPr>
              <a:lnSpc>
                <a:spcPct val="150000"/>
              </a:lnSpc>
            </a:pPr>
            <a:r>
              <a:rPr lang="en-US" sz="2400" dirty="0">
                <a:latin typeface="Times New Roman" pitchFamily="18" charset="0"/>
                <a:cs typeface="Times New Roman" pitchFamily="18" charset="0"/>
              </a:rPr>
              <a:t>Test train split of the data </a:t>
            </a:r>
          </a:p>
        </p:txBody>
      </p:sp>
      <p:sp>
        <p:nvSpPr>
          <p:cNvPr id="6" name="Rectangle 5"/>
          <p:cNvSpPr/>
          <p:nvPr/>
        </p:nvSpPr>
        <p:spPr>
          <a:xfrm>
            <a:off x="808383" y="4906760"/>
            <a:ext cx="7460974" cy="873572"/>
          </a:xfrm>
          <a:prstGeom prst="rect">
            <a:avLst/>
          </a:prstGeom>
        </p:spPr>
        <p:txBody>
          <a:bodyPr wrap="square">
            <a:spAutoFit/>
          </a:bodyPr>
          <a:lstStyle/>
          <a:p>
            <a:pPr>
              <a:lnSpc>
                <a:spcPct val="150000"/>
              </a:lnSpc>
            </a:pPr>
            <a:endParaRPr lang="en-US" dirty="0">
              <a:latin typeface="Times New Roman" pitchFamily="18" charset="0"/>
              <a:cs typeface="Times New Roman" pitchFamily="18" charset="0"/>
            </a:endParaRPr>
          </a:p>
          <a:p>
            <a:pPr>
              <a:lnSpc>
                <a:spcPct val="150000"/>
              </a:lnSpc>
            </a:pPr>
            <a:r>
              <a:rPr lang="en-US" dirty="0">
                <a:latin typeface="Times New Roman" pitchFamily="18" charset="0"/>
                <a:cs typeface="Times New Roman" pitchFamily="18" charset="0"/>
              </a:rPr>
              <a:t>This algorithm shows  the accuracy score of the training and testing data.</a:t>
            </a:r>
          </a:p>
        </p:txBody>
      </p:sp>
      <p:sp>
        <p:nvSpPr>
          <p:cNvPr id="7" name="Rectangle 6"/>
          <p:cNvSpPr/>
          <p:nvPr/>
        </p:nvSpPr>
        <p:spPr>
          <a:xfrm>
            <a:off x="4535912" y="5046629"/>
            <a:ext cx="1477712" cy="369332"/>
          </a:xfrm>
          <a:prstGeom prst="rect">
            <a:avLst/>
          </a:prstGeom>
        </p:spPr>
        <p:txBody>
          <a:bodyPr wrap="none">
            <a:spAutoFit/>
          </a:bodyPr>
          <a:lstStyle/>
          <a:p>
            <a:r>
              <a:rPr lang="en-US" dirty="0">
                <a:latin typeface="Times New Roman" pitchFamily="18" charset="0"/>
                <a:cs typeface="Times New Roman" pitchFamily="18" charset="0"/>
              </a:rPr>
              <a:t>Screenshot 11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892840"/>
          </a:xfrm>
        </p:spPr>
        <p:txBody>
          <a:bodyPr>
            <a:normAutofit/>
          </a:bodyPr>
          <a:lstStyle/>
          <a:p>
            <a:r>
              <a:rPr lang="en-US" sz="1800" b="1" dirty="0">
                <a:solidFill>
                  <a:schemeClr val="tx1"/>
                </a:solidFill>
                <a:latin typeface="Times New Roman" pitchFamily="18" charset="0"/>
                <a:cs typeface="Times New Roman" pitchFamily="18" charset="0"/>
              </a:rPr>
              <a:t>Conclusion</a:t>
            </a:r>
          </a:p>
        </p:txBody>
      </p:sp>
      <p:sp>
        <p:nvSpPr>
          <p:cNvPr id="3" name="Content Placeholder 2"/>
          <p:cNvSpPr>
            <a:spLocks noGrp="1"/>
          </p:cNvSpPr>
          <p:nvPr>
            <p:ph idx="1"/>
          </p:nvPr>
        </p:nvSpPr>
        <p:spPr>
          <a:xfrm>
            <a:off x="1110532" y="1766221"/>
            <a:ext cx="10058400" cy="4023360"/>
          </a:xfrm>
        </p:spPr>
        <p:txBody>
          <a:bodyPr>
            <a:normAutofit/>
          </a:bodyPr>
          <a:lstStyle/>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The main objective of this project is to spread awareness among people about ongoing COVID-19. This pandemic is causing a lot of drastic changes in every society. In order to cause rebellion against the disease causing to people and educating by means of preventive measures and sanitization of our belongings by using tweets made by the public in the platform known as Twitter.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Most of the methods and techniques employed are economically feasible and it's non-physical and completely virtual. In our project we have used tweets as the datasets from Twitter which leads to dealing with Big Data in order to classify and to distinguish the polarity of the opinion on the basis of Big Data techniques.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We have used an improvised, advanced, time and space efficient ID3 algorithm and the techniques used are feature extraction, stemming, lemmatization…..,etc. The whole process is done in the spark environment for better results.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When people are aware of the symptoms and the affection caused by the COVID-19 through our work we can prevent deaths and economic shrink in the society.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This project can be used to get information on many other things using datasets from tweets, other than diseases information on various products, stocks and many other things can be obtained</a:t>
            </a:r>
            <a:r>
              <a:rPr lang="en-IN"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0BDD2-A4C2-4464-819E-01B4F90A4EF1}"/>
              </a:ext>
            </a:extLst>
          </p:cNvPr>
          <p:cNvSpPr>
            <a:spLocks noGrp="1"/>
          </p:cNvSpPr>
          <p:nvPr>
            <p:ph type="title"/>
          </p:nvPr>
        </p:nvSpPr>
        <p:spPr>
          <a:xfrm>
            <a:off x="707136" y="280416"/>
            <a:ext cx="10330688" cy="905574"/>
          </a:xfrm>
        </p:spPr>
        <p:txBody>
          <a:bodyPr>
            <a:normAutofit/>
          </a:bodyPr>
          <a:lstStyle/>
          <a:p>
            <a:r>
              <a:rPr lang="en-IN" sz="1800" dirty="0">
                <a:latin typeface="Times New Roman" panose="02020603050405020304" pitchFamily="18" charset="0"/>
                <a:cs typeface="Times New Roman" panose="02020603050405020304" pitchFamily="18" charset="0"/>
              </a:rPr>
              <a:t>REFERENCES</a:t>
            </a:r>
          </a:p>
        </p:txBody>
      </p:sp>
      <p:sp>
        <p:nvSpPr>
          <p:cNvPr id="3" name="Date Placeholder 2">
            <a:extLst>
              <a:ext uri="{FF2B5EF4-FFF2-40B4-BE49-F238E27FC236}">
                <a16:creationId xmlns:a16="http://schemas.microsoft.com/office/drawing/2014/main" id="{3CA18266-F6C2-4237-8FEC-56A615E922F4}"/>
              </a:ext>
            </a:extLst>
          </p:cNvPr>
          <p:cNvSpPr>
            <a:spLocks noGrp="1"/>
          </p:cNvSpPr>
          <p:nvPr>
            <p:ph type="dt" sz="half" idx="10"/>
          </p:nvPr>
        </p:nvSpPr>
        <p:spPr/>
        <p:txBody>
          <a:bodyPr/>
          <a:lstStyle/>
          <a:p>
            <a:fld id="{927393AC-19B4-44D8-99D7-F6A8EFFD1173}" type="datetime1">
              <a:rPr lang="en-IN" smtClean="0"/>
              <a:pPr/>
              <a:t>29-05-2026</a:t>
            </a:fld>
            <a:endParaRPr lang="en-IN"/>
          </a:p>
        </p:txBody>
      </p:sp>
      <p:sp>
        <p:nvSpPr>
          <p:cNvPr id="5" name="Slide Number Placeholder 4">
            <a:extLst>
              <a:ext uri="{FF2B5EF4-FFF2-40B4-BE49-F238E27FC236}">
                <a16:creationId xmlns:a16="http://schemas.microsoft.com/office/drawing/2014/main" id="{93DBA3A0-1F77-41A5-B7E9-9E3114D0A566}"/>
              </a:ext>
            </a:extLst>
          </p:cNvPr>
          <p:cNvSpPr>
            <a:spLocks noGrp="1"/>
          </p:cNvSpPr>
          <p:nvPr>
            <p:ph type="sldNum" sz="quarter" idx="12"/>
          </p:nvPr>
        </p:nvSpPr>
        <p:spPr/>
        <p:txBody>
          <a:bodyPr/>
          <a:lstStyle/>
          <a:p>
            <a:fld id="{FB3D5AED-D04D-48C0-8E85-AB00F7D41487}" type="slidenum">
              <a:rPr lang="en-IN" smtClean="0"/>
              <a:pPr/>
              <a:t>25</a:t>
            </a:fld>
            <a:endParaRPr lang="en-IN"/>
          </a:p>
        </p:txBody>
      </p:sp>
      <p:sp>
        <p:nvSpPr>
          <p:cNvPr id="6" name="Content Placeholder 5">
            <a:extLst>
              <a:ext uri="{FF2B5EF4-FFF2-40B4-BE49-F238E27FC236}">
                <a16:creationId xmlns:a16="http://schemas.microsoft.com/office/drawing/2014/main" id="{B30AB221-E7EB-4FD1-9247-F1CD2BB79276}"/>
              </a:ext>
            </a:extLst>
          </p:cNvPr>
          <p:cNvSpPr>
            <a:spLocks noGrp="1"/>
          </p:cNvSpPr>
          <p:nvPr>
            <p:ph sz="quarter" idx="13"/>
          </p:nvPr>
        </p:nvSpPr>
        <p:spPr>
          <a:xfrm>
            <a:off x="824992" y="1810139"/>
            <a:ext cx="10566400" cy="4180113"/>
          </a:xfrm>
        </p:spPr>
        <p:txBody>
          <a:bodyPr>
            <a:normAutofit fontScale="25000" lnSpcReduction="20000"/>
          </a:bodyPr>
          <a:lstStyle/>
          <a:p>
            <a:pPr algn="just"/>
            <a:r>
              <a:rPr lang="en-US" sz="4800" dirty="0">
                <a:latin typeface="Times New Roman" panose="02020603050405020304" pitchFamily="18" charset="0"/>
                <a:cs typeface="Times New Roman" panose="02020603050405020304" pitchFamily="18" charset="0"/>
              </a:rPr>
              <a:t>[1] Fatima </a:t>
            </a:r>
            <a:r>
              <a:rPr lang="en-US" sz="4800" dirty="0" err="1">
                <a:latin typeface="Times New Roman" panose="02020603050405020304" pitchFamily="18" charset="0"/>
                <a:cs typeface="Times New Roman" panose="02020603050405020304" pitchFamily="18" charset="0"/>
              </a:rPr>
              <a:t>Es-Sabery</a:t>
            </a:r>
            <a:r>
              <a:rPr lang="en-US" sz="4800" dirty="0">
                <a:latin typeface="Times New Roman" panose="02020603050405020304" pitchFamily="18" charset="0"/>
                <a:cs typeface="Times New Roman" panose="02020603050405020304" pitchFamily="18" charset="0"/>
              </a:rPr>
              <a:t>, Khadija </a:t>
            </a:r>
            <a:r>
              <a:rPr lang="en-US" sz="4800" dirty="0" err="1">
                <a:latin typeface="Times New Roman" panose="02020603050405020304" pitchFamily="18" charset="0"/>
                <a:cs typeface="Times New Roman" panose="02020603050405020304" pitchFamily="18" charset="0"/>
              </a:rPr>
              <a:t>Es-Sabery</a:t>
            </a:r>
            <a:r>
              <a:rPr lang="en-US" sz="4800" dirty="0">
                <a:latin typeface="Times New Roman" panose="02020603050405020304" pitchFamily="18" charset="0"/>
                <a:cs typeface="Times New Roman" panose="02020603050405020304" pitchFamily="18" charset="0"/>
              </a:rPr>
              <a:t>, Junaid </a:t>
            </a:r>
            <a:r>
              <a:rPr lang="en-US" sz="4800" dirty="0" err="1">
                <a:latin typeface="Times New Roman" panose="02020603050405020304" pitchFamily="18" charset="0"/>
                <a:cs typeface="Times New Roman" panose="02020603050405020304" pitchFamily="18" charset="0"/>
              </a:rPr>
              <a:t>Qadir</a:t>
            </a:r>
            <a:r>
              <a:rPr lang="en-US" sz="4800" dirty="0">
                <a:latin typeface="Times New Roman" panose="02020603050405020304" pitchFamily="18" charset="0"/>
                <a:cs typeface="Times New Roman" panose="02020603050405020304" pitchFamily="18" charset="0"/>
              </a:rPr>
              <a:t> “</a:t>
            </a:r>
            <a:r>
              <a:rPr lang="en-IN" sz="4800" dirty="0">
                <a:latin typeface="Times New Roman" panose="02020603050405020304" pitchFamily="18" charset="0"/>
                <a:cs typeface="Times New Roman" panose="02020603050405020304" pitchFamily="18" charset="0"/>
              </a:rPr>
              <a:t>A MapReduce Opinion Mining for COVID-19-Related Tweets Classification Using Enhanced ID3 Decision Tree Classifier” DOI: </a:t>
            </a:r>
            <a:r>
              <a:rPr lang="en-IN" sz="4800" i="1" dirty="0">
                <a:latin typeface="Times New Roman" panose="02020603050405020304" pitchFamily="18" charset="0"/>
                <a:cs typeface="Times New Roman" panose="02020603050405020304" pitchFamily="18" charset="0"/>
              </a:rPr>
              <a:t>10.1109/ACCESS.2021.3073215</a:t>
            </a:r>
            <a:endParaRPr lang="en-IN" sz="4800" dirty="0">
              <a:latin typeface="Times New Roman" panose="02020603050405020304" pitchFamily="18" charset="0"/>
              <a:cs typeface="Times New Roman" panose="02020603050405020304" pitchFamily="18" charset="0"/>
            </a:endParaRPr>
          </a:p>
          <a:p>
            <a:pPr algn="just"/>
            <a:r>
              <a:rPr lang="en-IN" sz="4800" dirty="0">
                <a:latin typeface="Times New Roman" panose="02020603050405020304" pitchFamily="18" charset="0"/>
                <a:cs typeface="Times New Roman" panose="02020603050405020304" pitchFamily="18" charset="0"/>
              </a:rPr>
              <a:t>[2] </a:t>
            </a:r>
            <a:r>
              <a:rPr lang="en-IN" sz="4800" dirty="0" err="1">
                <a:latin typeface="Times New Roman" panose="02020603050405020304" pitchFamily="18" charset="0"/>
                <a:cs typeface="Times New Roman" panose="02020603050405020304" pitchFamily="18" charset="0"/>
              </a:rPr>
              <a:t>Rajani</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Kumari</a:t>
            </a:r>
            <a:r>
              <a:rPr lang="en-IN" sz="4800" dirty="0">
                <a:latin typeface="Times New Roman" panose="02020603050405020304" pitchFamily="18" charset="0"/>
                <a:cs typeface="Times New Roman" panose="02020603050405020304" pitchFamily="18" charset="0"/>
              </a:rPr>
              <a:t>, Sandeep Kumar “Analysis and Predictions of Spread, Recovery, and Death Caused by COVID-19 in India” DOI: </a:t>
            </a:r>
            <a:r>
              <a:rPr lang="en-IN" sz="4800" i="1" dirty="0">
                <a:latin typeface="Times New Roman" panose="02020603050405020304" pitchFamily="18" charset="0"/>
                <a:cs typeface="Times New Roman" panose="02020603050405020304" pitchFamily="18" charset="0"/>
              </a:rPr>
              <a:t>10.26599/BDMA.2020.9020013</a:t>
            </a:r>
            <a:r>
              <a:rPr lang="en-IN" sz="4800" dirty="0">
                <a:latin typeface="Times New Roman" panose="02020603050405020304" pitchFamily="18" charset="0"/>
                <a:cs typeface="Times New Roman" panose="02020603050405020304" pitchFamily="18" charset="0"/>
              </a:rPr>
              <a:t>  </a:t>
            </a:r>
          </a:p>
          <a:p>
            <a:pPr algn="just"/>
            <a:r>
              <a:rPr lang="en-IN" sz="4800" dirty="0">
                <a:latin typeface="Times New Roman" panose="02020603050405020304" pitchFamily="18" charset="0"/>
                <a:cs typeface="Times New Roman" panose="02020603050405020304" pitchFamily="18" charset="0"/>
              </a:rPr>
              <a:t>[3] Vishan Kumar Gupta, Avdhesh Gupta “Prediction of COVID-19 Confirmed, Death, and Cured Cases in India Using Random Forest Model” DOI: </a:t>
            </a:r>
            <a:r>
              <a:rPr lang="en-IN" sz="4800" i="1" dirty="0">
                <a:latin typeface="Times New Roman" panose="02020603050405020304" pitchFamily="18" charset="0"/>
                <a:cs typeface="Times New Roman" panose="02020603050405020304" pitchFamily="18" charset="0"/>
              </a:rPr>
              <a:t>10.26599/BDMA.2020.9020016 </a:t>
            </a:r>
            <a:endParaRPr lang="en-IN" sz="4800" dirty="0">
              <a:latin typeface="Times New Roman" panose="02020603050405020304" pitchFamily="18" charset="0"/>
              <a:cs typeface="Times New Roman" panose="02020603050405020304" pitchFamily="18" charset="0"/>
            </a:endParaRPr>
          </a:p>
          <a:p>
            <a:pPr algn="just"/>
            <a:r>
              <a:rPr lang="en-IN" sz="4800" dirty="0">
                <a:latin typeface="Times New Roman" panose="02020603050405020304" pitchFamily="18" charset="0"/>
                <a:cs typeface="Times New Roman" panose="02020603050405020304" pitchFamily="18" charset="0"/>
              </a:rPr>
              <a:t>[4] </a:t>
            </a:r>
            <a:r>
              <a:rPr lang="en-IN" sz="4800" dirty="0" err="1">
                <a:latin typeface="Times New Roman" panose="02020603050405020304" pitchFamily="18" charset="0"/>
                <a:cs typeface="Times New Roman" panose="02020603050405020304" pitchFamily="18" charset="0"/>
              </a:rPr>
              <a:t>Nugroho</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Setio</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Wibowo</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Rendy</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Mahardika</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Kusrini</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Kusrini</a:t>
            </a:r>
            <a:r>
              <a:rPr lang="en-IN" sz="4800" dirty="0">
                <a:latin typeface="Times New Roman" panose="02020603050405020304" pitchFamily="18" charset="0"/>
                <a:cs typeface="Times New Roman" panose="02020603050405020304" pitchFamily="18" charset="0"/>
              </a:rPr>
              <a:t> “Twitter Data Analysis Using Machine Learning To Evaluate Community Compliance in Preventing the Spread of Covid-19” DOI: </a:t>
            </a:r>
            <a:r>
              <a:rPr lang="en-IN" sz="4800" i="1" dirty="0">
                <a:latin typeface="Times New Roman" panose="02020603050405020304" pitchFamily="18" charset="0"/>
                <a:cs typeface="Times New Roman" panose="02020603050405020304" pitchFamily="18" charset="0"/>
              </a:rPr>
              <a:t>10.1109/ICORIS50180.2020.9320816</a:t>
            </a:r>
            <a:endParaRPr lang="en-IN" sz="4800" dirty="0">
              <a:latin typeface="Times New Roman" panose="02020603050405020304" pitchFamily="18" charset="0"/>
              <a:cs typeface="Times New Roman" panose="02020603050405020304" pitchFamily="18" charset="0"/>
            </a:endParaRPr>
          </a:p>
          <a:p>
            <a:pPr algn="just"/>
            <a:r>
              <a:rPr lang="en-IN" sz="4800" dirty="0">
                <a:latin typeface="Times New Roman" panose="02020603050405020304" pitchFamily="18" charset="0"/>
                <a:cs typeface="Times New Roman" panose="02020603050405020304" pitchFamily="18" charset="0"/>
              </a:rPr>
              <a:t>[5] </a:t>
            </a:r>
            <a:r>
              <a:rPr lang="en-IN" sz="4800" dirty="0" err="1">
                <a:latin typeface="Times New Roman" panose="02020603050405020304" pitchFamily="18" charset="0"/>
                <a:cs typeface="Times New Roman" panose="02020603050405020304" pitchFamily="18" charset="0"/>
              </a:rPr>
              <a:t>Prasoon</a:t>
            </a:r>
            <a:r>
              <a:rPr lang="en-IN" sz="4800" dirty="0">
                <a:latin typeface="Times New Roman" panose="02020603050405020304" pitchFamily="18" charset="0"/>
                <a:cs typeface="Times New Roman" panose="02020603050405020304" pitchFamily="18" charset="0"/>
              </a:rPr>
              <a:t> Gupta , Sanjay Kumar “Sentiment Analysis of Lockdown in India During COVID-19: A Case Study on Twitter” DOI: </a:t>
            </a:r>
            <a:r>
              <a:rPr lang="en-IN" sz="4800" i="1" dirty="0">
                <a:latin typeface="Times New Roman" panose="02020603050405020304" pitchFamily="18" charset="0"/>
                <a:cs typeface="Times New Roman" panose="02020603050405020304" pitchFamily="18" charset="0"/>
              </a:rPr>
              <a:t>10.1109/TCSS.2020.3042446</a:t>
            </a:r>
            <a:r>
              <a:rPr lang="en-IN" sz="4800" dirty="0">
                <a:latin typeface="Times New Roman" panose="02020603050405020304" pitchFamily="18" charset="0"/>
                <a:cs typeface="Times New Roman" panose="02020603050405020304" pitchFamily="18" charset="0"/>
              </a:rPr>
              <a:t> </a:t>
            </a:r>
          </a:p>
          <a:p>
            <a:pPr algn="just"/>
            <a:r>
              <a:rPr lang="en-IN" sz="4800" dirty="0">
                <a:latin typeface="Times New Roman" panose="02020603050405020304" pitchFamily="18" charset="0"/>
                <a:cs typeface="Times New Roman" panose="02020603050405020304" pitchFamily="18" charset="0"/>
              </a:rPr>
              <a:t>[6] </a:t>
            </a:r>
            <a:r>
              <a:rPr lang="en-IN" sz="4800" dirty="0" err="1">
                <a:latin typeface="Times New Roman" panose="02020603050405020304" pitchFamily="18" charset="0"/>
                <a:cs typeface="Times New Roman" panose="02020603050405020304" pitchFamily="18" charset="0"/>
              </a:rPr>
              <a:t>Habiba</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Drias</a:t>
            </a:r>
            <a:r>
              <a:rPr lang="en-IN" sz="4800" dirty="0">
                <a:latin typeface="Times New Roman" panose="02020603050405020304" pitchFamily="18" charset="0"/>
                <a:cs typeface="Times New Roman" panose="02020603050405020304" pitchFamily="18" charset="0"/>
              </a:rPr>
              <a:t> “Mining Twitter Data on COVID-19 for Sentiment analysis and frequent patterns Discovery” DOI:</a:t>
            </a:r>
            <a:r>
              <a:rPr lang="en-IN" sz="4800" b="1" dirty="0">
                <a:latin typeface="Times New Roman" panose="02020603050405020304" pitchFamily="18" charset="0"/>
                <a:cs typeface="Times New Roman" panose="02020603050405020304" pitchFamily="18" charset="0"/>
              </a:rPr>
              <a:t> </a:t>
            </a:r>
            <a:r>
              <a:rPr lang="en-IN" sz="4800" i="1" dirty="0">
                <a:latin typeface="Times New Roman" panose="02020603050405020304" pitchFamily="18" charset="0"/>
                <a:cs typeface="Times New Roman" panose="02020603050405020304" pitchFamily="18" charset="0"/>
              </a:rPr>
              <a:t>10.1101/2020.05.08.20090464</a:t>
            </a:r>
            <a:r>
              <a:rPr lang="en-IN" sz="4800" dirty="0">
                <a:latin typeface="Times New Roman" panose="02020603050405020304" pitchFamily="18" charset="0"/>
                <a:cs typeface="Times New Roman" panose="02020603050405020304" pitchFamily="18" charset="0"/>
              </a:rPr>
              <a:t> </a:t>
            </a:r>
          </a:p>
          <a:p>
            <a:pPr algn="just"/>
            <a:r>
              <a:rPr lang="en-IN" sz="4800" dirty="0">
                <a:latin typeface="Times New Roman" panose="02020603050405020304" pitchFamily="18" charset="0"/>
                <a:cs typeface="Times New Roman" panose="02020603050405020304" pitchFamily="18" charset="0"/>
              </a:rPr>
              <a:t>[7] Abdulrahman </a:t>
            </a:r>
            <a:r>
              <a:rPr lang="en-IN" sz="4800" dirty="0" err="1">
                <a:latin typeface="Times New Roman" panose="02020603050405020304" pitchFamily="18" charset="0"/>
                <a:cs typeface="Times New Roman" panose="02020603050405020304" pitchFamily="18" charset="0"/>
              </a:rPr>
              <a:t>Radaideh</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Fikri</a:t>
            </a:r>
            <a:r>
              <a:rPr lang="en-IN" sz="4800" dirty="0">
                <a:latin typeface="Times New Roman" panose="02020603050405020304" pitchFamily="18" charset="0"/>
                <a:cs typeface="Times New Roman" panose="02020603050405020304" pitchFamily="18" charset="0"/>
              </a:rPr>
              <a:t> </a:t>
            </a:r>
            <a:r>
              <a:rPr lang="en-IN" sz="4800" dirty="0" err="1">
                <a:latin typeface="Times New Roman" panose="02020603050405020304" pitchFamily="18" charset="0"/>
                <a:cs typeface="Times New Roman" panose="02020603050405020304" pitchFamily="18" charset="0"/>
              </a:rPr>
              <a:t>Dweiri</a:t>
            </a:r>
            <a:r>
              <a:rPr lang="en-IN" sz="4800" dirty="0">
                <a:latin typeface="Times New Roman" panose="02020603050405020304" pitchFamily="18" charset="0"/>
                <a:cs typeface="Times New Roman" panose="02020603050405020304" pitchFamily="18" charset="0"/>
              </a:rPr>
              <a:t>, Mohammad </a:t>
            </a:r>
            <a:r>
              <a:rPr lang="en-IN" sz="4800" dirty="0" err="1">
                <a:latin typeface="Times New Roman" panose="02020603050405020304" pitchFamily="18" charset="0"/>
                <a:cs typeface="Times New Roman" panose="02020603050405020304" pitchFamily="18" charset="0"/>
              </a:rPr>
              <a:t>Obaidat</a:t>
            </a:r>
            <a:r>
              <a:rPr lang="en-IN" sz="4800" dirty="0">
                <a:latin typeface="Times New Roman" panose="02020603050405020304" pitchFamily="18" charset="0"/>
                <a:cs typeface="Times New Roman" panose="02020603050405020304" pitchFamily="18" charset="0"/>
              </a:rPr>
              <a:t> “A Novel Approach To Predict the Real Time Sentimental Analysis by Naïve Bayes &amp; RNN Algorithm during the COVID Pandemic in UAE” DOI: </a:t>
            </a:r>
            <a:r>
              <a:rPr lang="en-IN" sz="4800" b="1" dirty="0">
                <a:latin typeface="Times New Roman" panose="02020603050405020304" pitchFamily="18" charset="0"/>
                <a:cs typeface="Times New Roman" panose="02020603050405020304" pitchFamily="18" charset="0"/>
              </a:rPr>
              <a:t> </a:t>
            </a:r>
            <a:r>
              <a:rPr lang="en-IN" sz="4800" i="1" dirty="0">
                <a:latin typeface="Times New Roman" panose="02020603050405020304" pitchFamily="18" charset="0"/>
                <a:cs typeface="Times New Roman" panose="02020603050405020304" pitchFamily="18" charset="0"/>
                <a:hlinkClick r:id="rId2"/>
              </a:rPr>
              <a:t>10.1109/CCCI49893.2020.9256587</a:t>
            </a:r>
            <a:endParaRPr lang="en-IN" sz="4800" dirty="0">
              <a:latin typeface="Times New Roman" panose="02020603050405020304" pitchFamily="18" charset="0"/>
              <a:cs typeface="Times New Roman" panose="02020603050405020304" pitchFamily="18" charset="0"/>
            </a:endParaRPr>
          </a:p>
          <a:p>
            <a:pPr algn="just"/>
            <a:r>
              <a:rPr lang="en-IN" sz="4800" dirty="0">
                <a:latin typeface="Times New Roman" panose="02020603050405020304" pitchFamily="18" charset="0"/>
                <a:cs typeface="Times New Roman" panose="02020603050405020304" pitchFamily="18" charset="0"/>
              </a:rPr>
              <a:t>[8] XUEMIN YU , MARTHA DAIS FERREIRA “Senti-COVID19: An Interactive Visual Analytics System for Detecting Public Sentiment and Insights Regarding COVID-19 From Social Media” DOI: </a:t>
            </a:r>
            <a:r>
              <a:rPr lang="en-IN" sz="4800" i="1" dirty="0">
                <a:latin typeface="Times New Roman" panose="02020603050405020304" pitchFamily="18" charset="0"/>
                <a:cs typeface="Times New Roman" panose="02020603050405020304" pitchFamily="18" charset="0"/>
              </a:rPr>
              <a:t>10.1109/ACCESS.2021.3111833</a:t>
            </a:r>
            <a:endParaRPr lang="en-IN" sz="4800" dirty="0">
              <a:latin typeface="Times New Roman" panose="02020603050405020304" pitchFamily="18" charset="0"/>
              <a:cs typeface="Times New Roman" panose="02020603050405020304" pitchFamily="18" charset="0"/>
            </a:endParaRPr>
          </a:p>
          <a:p>
            <a:pPr algn="just"/>
            <a:r>
              <a:rPr lang="en-IN" sz="4800" dirty="0">
                <a:latin typeface="Times New Roman" panose="02020603050405020304" pitchFamily="18" charset="0"/>
                <a:cs typeface="Times New Roman" panose="02020603050405020304" pitchFamily="18" charset="0"/>
              </a:rPr>
              <a:t>[9] TIANYI WANG, KE LU “COVID-19 Sensing: Negative Sentiment Analysis on Social Media in China via BERT Model” DOI: </a:t>
            </a:r>
            <a:r>
              <a:rPr lang="en-IN" sz="4800" i="1" dirty="0">
                <a:latin typeface="Times New Roman" panose="02020603050405020304" pitchFamily="18" charset="0"/>
                <a:cs typeface="Times New Roman" panose="02020603050405020304" pitchFamily="18" charset="0"/>
              </a:rPr>
              <a:t>10.1109/ACCESS.2020.3012595 </a:t>
            </a:r>
            <a:endParaRPr lang="en-IN" sz="4800" dirty="0">
              <a:latin typeface="Times New Roman" panose="02020603050405020304" pitchFamily="18" charset="0"/>
              <a:cs typeface="Times New Roman" panose="02020603050405020304" pitchFamily="18" charset="0"/>
            </a:endParaRPr>
          </a:p>
          <a:p>
            <a:pPr algn="just"/>
            <a:r>
              <a:rPr lang="en-IN" sz="4800" dirty="0">
                <a:latin typeface="Times New Roman" panose="02020603050405020304" pitchFamily="18" charset="0"/>
                <a:cs typeface="Times New Roman" panose="02020603050405020304" pitchFamily="18" charset="0"/>
              </a:rPr>
              <a:t>[10] </a:t>
            </a:r>
            <a:r>
              <a:rPr lang="en-IN" sz="4800" dirty="0" err="1">
                <a:latin typeface="Times New Roman" panose="02020603050405020304" pitchFamily="18" charset="0"/>
                <a:cs typeface="Times New Roman" panose="02020603050405020304" pitchFamily="18" charset="0"/>
              </a:rPr>
              <a:t>Vivek</a:t>
            </a:r>
            <a:r>
              <a:rPr lang="en-IN" sz="4800" dirty="0">
                <a:latin typeface="Times New Roman" panose="02020603050405020304" pitchFamily="18" charset="0"/>
                <a:cs typeface="Times New Roman" panose="02020603050405020304" pitchFamily="18" charset="0"/>
              </a:rPr>
              <a:t> Kumar </a:t>
            </a:r>
            <a:r>
              <a:rPr lang="en-IN" sz="4800" dirty="0" err="1">
                <a:latin typeface="Times New Roman" panose="02020603050405020304" pitchFamily="18" charset="0"/>
                <a:cs typeface="Times New Roman" panose="02020603050405020304" pitchFamily="18" charset="0"/>
              </a:rPr>
              <a:t>Soni</a:t>
            </a:r>
            <a:r>
              <a:rPr lang="en-IN" sz="4800" dirty="0">
                <a:latin typeface="Times New Roman" panose="02020603050405020304" pitchFamily="18" charset="0"/>
                <a:cs typeface="Times New Roman" panose="02020603050405020304" pitchFamily="18" charset="0"/>
              </a:rPr>
              <a:t>, Mr. Satish </a:t>
            </a:r>
            <a:r>
              <a:rPr lang="en-IN" sz="4800" dirty="0" err="1">
                <a:latin typeface="Times New Roman" panose="02020603050405020304" pitchFamily="18" charset="0"/>
                <a:cs typeface="Times New Roman" panose="02020603050405020304" pitchFamily="18" charset="0"/>
              </a:rPr>
              <a:t>Pawar</a:t>
            </a:r>
            <a:r>
              <a:rPr lang="en-IN" sz="4800" dirty="0">
                <a:latin typeface="Times New Roman" panose="02020603050405020304" pitchFamily="18" charset="0"/>
                <a:cs typeface="Times New Roman" panose="02020603050405020304" pitchFamily="18" charset="0"/>
              </a:rPr>
              <a:t> “Emotion Based Social Media Text Classification</a:t>
            </a:r>
          </a:p>
          <a:p>
            <a:pPr algn="just"/>
            <a:r>
              <a:rPr lang="en-IN" sz="4800" dirty="0">
                <a:latin typeface="Times New Roman" panose="02020603050405020304" pitchFamily="18" charset="0"/>
                <a:cs typeface="Times New Roman" panose="02020603050405020304" pitchFamily="18" charset="0"/>
              </a:rPr>
              <a:t>using Optimized Improved ID3 Classifier” DOI: </a:t>
            </a:r>
            <a:r>
              <a:rPr lang="en-IN" sz="4800" b="1" i="1" dirty="0">
                <a:latin typeface="Times New Roman" panose="02020603050405020304" pitchFamily="18" charset="0"/>
                <a:cs typeface="Times New Roman" panose="02020603050405020304" pitchFamily="18" charset="0"/>
              </a:rPr>
              <a:t> </a:t>
            </a:r>
            <a:r>
              <a:rPr lang="en-IN" sz="4800" i="1" dirty="0">
                <a:latin typeface="Times New Roman" panose="02020603050405020304" pitchFamily="18" charset="0"/>
                <a:cs typeface="Times New Roman" panose="02020603050405020304" pitchFamily="18" charset="0"/>
                <a:hlinkClick r:id="rId3"/>
              </a:rPr>
              <a:t>10.1109/ICECDS.2017.8389696</a:t>
            </a:r>
            <a:endParaRPr lang="en-IN" sz="4800" dirty="0">
              <a:latin typeface="Times New Roman" panose="02020603050405020304" pitchFamily="18" charset="0"/>
              <a:cs typeface="Times New Roman" panose="02020603050405020304" pitchFamily="18" charset="0"/>
            </a:endParaRPr>
          </a:p>
          <a:p>
            <a:pPr marL="0" indent="0" algn="just">
              <a:buNone/>
            </a:pPr>
            <a:endParaRPr lang="en-IN" sz="1200"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8773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sz="quarter" idx="13"/>
          </p:nvPr>
        </p:nvSpPr>
        <p:spPr/>
        <p:txBody>
          <a:bodyPr/>
          <a:lstStyle/>
          <a:p>
            <a:endParaRPr lang="en-US"/>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
  <TotalTime>1087</TotalTime>
  <Words>2226</Words>
  <Application>Microsoft Office PowerPoint</Application>
  <PresentationFormat>Widescreen</PresentationFormat>
  <Paragraphs>179</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Agency FB</vt:lpstr>
      <vt:lpstr>Arial</vt:lpstr>
      <vt:lpstr>Calibri</vt:lpstr>
      <vt:lpstr>Calibri Light</vt:lpstr>
      <vt:lpstr>Times New Roman</vt:lpstr>
      <vt:lpstr>Retrospect</vt:lpstr>
      <vt:lpstr>PowerPoint Presentation</vt:lpstr>
      <vt:lpstr>Index</vt:lpstr>
      <vt:lpstr>INTRODUCTION</vt:lpstr>
      <vt:lpstr>PROBLEM STATEMENT </vt:lpstr>
      <vt:lpstr> OBJECTIVES</vt:lpstr>
      <vt:lpstr>LITERATURE SURVEY</vt:lpstr>
      <vt:lpstr>PowerPoint Presentation</vt:lpstr>
      <vt:lpstr>Existing system</vt:lpstr>
      <vt:lpstr>SYSTEM DESIGN</vt:lpstr>
      <vt:lpstr>PowerPoint Presentation</vt:lpstr>
      <vt:lpstr>IMPLEMENTATION  IMPORT DATASETS</vt:lpstr>
      <vt:lpstr>DATA  ANALYSIS</vt:lpstr>
      <vt:lpstr>This screenshot shows the date and number of tweets posted on the particular date. </vt:lpstr>
      <vt:lpstr>This screenshot shows the country and the number of tweets posted on the particular country. </vt:lpstr>
      <vt:lpstr>PowerPoint Presentation</vt:lpstr>
      <vt:lpstr>This screenshot shows the polarity of the tweets.</vt:lpstr>
      <vt:lpstr>  DATA PREPROCESSING</vt:lpstr>
      <vt:lpstr>PowerPoint Presentation</vt:lpstr>
      <vt:lpstr>PowerPoint Presentation</vt:lpstr>
      <vt:lpstr>PowerPoint Presentation</vt:lpstr>
      <vt:lpstr>PowerPoint Presentation</vt:lpstr>
      <vt:lpstr>DATA  REPRESENTATION</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Raj</dc:creator>
  <cp:lastModifiedBy>Hello</cp:lastModifiedBy>
  <cp:revision>92</cp:revision>
  <dcterms:created xsi:type="dcterms:W3CDTF">2021-11-24T21:02:18Z</dcterms:created>
  <dcterms:modified xsi:type="dcterms:W3CDTF">2026-05-28T21:51:29Z</dcterms:modified>
</cp:coreProperties>
</file>